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PROPUESTA DE ARRANQUE ·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Tu ojo clínico,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vuelto un sistema que escala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2D4E2"/>
                </a:solidFill>
                <a:latin typeface="Arial"/>
              </a:rPr>
              <a:t>Ordenar y medir el motor de Reclutamiento &amp; Selección y —con tu criterio— activar la IA y tu base de talento. Empezamos por una victoria concreta en 3 semanas, no por un gran compromiso.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715000"/>
            <a:ext cx="10515600" cy="12700"/>
          </a:xfrm>
          <a:prstGeom prst="rect">
            <a:avLst/>
          </a:prstGeom>
          <a:solidFill>
            <a:srgbClr val="2A4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FB4C6"/>
                </a:solidFill>
                <a:latin typeface="Arial"/>
              </a:rPr>
              <a:t>Preparado para: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Virginia — CEO, Conexión Talento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89788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FB4C6"/>
                </a:solidFill>
                <a:latin typeface="Arial"/>
              </a:rPr>
              <a:t>Preparado por: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‹TU CONSULTORA› · Data, IA &amp; Transf.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589788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FB4C6"/>
                </a:solidFill>
                <a:latin typeface="Arial"/>
              </a:rPr>
              <a:t>Fecha: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HOJA DE RUTA DE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solidFill>
            <a:srgbClr val="F5F7FA"/>
          </a:solidFill>
          <a:ln w="1524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C7C8C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1A2733"/>
                </a:solidFill>
                <a:latin typeface="Arial"/>
              </a:rPr>
              <a:t>El reto y el diagnóstico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42032"/>
            <a:ext cx="566928" cy="566928"/>
          </a:xfrm>
          <a:prstGeom prst="rect">
            <a:avLst/>
          </a:prstGeom>
          <a:solidFill>
            <a:srgbClr val="F5F7FA"/>
          </a:solidFill>
          <a:ln w="1524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420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C7C8C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42032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1A2733"/>
                </a:solidFill>
                <a:latin typeface="Arial"/>
              </a:rPr>
              <a:t>Nuestro enfoque: estandarizar antes de automatizar — con la IA, no sin ella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55264"/>
            <a:ext cx="566928" cy="566928"/>
          </a:xfrm>
          <a:prstGeom prst="rect">
            <a:avLst/>
          </a:prstGeom>
          <a:solidFill>
            <a:srgbClr val="F5F7FA"/>
          </a:solidFill>
          <a:ln w="1524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5526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C7C8C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55264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1A2733"/>
                </a:solidFill>
                <a:latin typeface="Arial"/>
              </a:rPr>
              <a:t>Empecemos por una victoria: la Fase 0 y lo que te llevas en 3 semanas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68496"/>
            <a:ext cx="566928" cy="566928"/>
          </a:xfrm>
          <a:prstGeom prst="rect">
            <a:avLst/>
          </a:prstGeom>
          <a:solidFill>
            <a:srgbClr val="F5F7FA"/>
          </a:solidFill>
          <a:ln w="1524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684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C7C8C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68496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1A2733"/>
                </a:solidFill>
                <a:latin typeface="Arial"/>
              </a:rPr>
              <a:t>Cómo medimos el éxito y qué vale en tus dólares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81728"/>
            <a:ext cx="566928" cy="566928"/>
          </a:xfrm>
          <a:prstGeom prst="rect">
            <a:avLst/>
          </a:prstGeom>
          <a:solidFill>
            <a:srgbClr val="F5F7FA"/>
          </a:solidFill>
          <a:ln w="1524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817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C7C8C"/>
                </a:solidFill>
                <a:latin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81728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1A2733"/>
                </a:solidFill>
                <a:latin typeface="Arial"/>
              </a:rPr>
              <a:t>Inversión: tu decisión de hoy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94960"/>
            <a:ext cx="566928" cy="566928"/>
          </a:xfrm>
          <a:prstGeom prst="rect">
            <a:avLst/>
          </a:prstGeom>
          <a:solidFill>
            <a:srgbClr val="F5F7FA"/>
          </a:solidFill>
          <a:ln w="1524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94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C7C8C"/>
                </a:solidFill>
                <a:latin typeface="Arial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94960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1A2733"/>
                </a:solidFill>
                <a:latin typeface="Arial"/>
              </a:rPr>
              <a:t>Riesgos, el camino completo y próximos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01 · ENTENDIMIENTO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El reto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2733"/>
                </a:solidFill>
                <a:latin typeface="Arial"/>
              </a:rPr>
              <a:t>Conexión Talento vive de su motor de Reclutamiento &amp; Selección — </a:t>
            </a:r>
            <a:r>
              <a:rPr sz="1500" b="1">
                <a:solidFill>
                  <a:srgbClr val="102A43"/>
                </a:solidFill>
                <a:latin typeface="Arial"/>
              </a:rPr>
              <a:t>el 63% de los ingresos</a:t>
            </a:r>
            <a:r>
              <a:rPr sz="1500" b="0">
                <a:solidFill>
                  <a:srgbClr val="1A2733"/>
                </a:solidFill>
                <a:latin typeface="Arial"/>
              </a:rPr>
              <a:t>. Tiene activos poco comunes: el ojo clínico de Virginia, un ATS y ~4.000 candidatos. Lo que falta no son herramientas: es la </a:t>
            </a:r>
            <a:r>
              <a:rPr sz="1500" b="1">
                <a:solidFill>
                  <a:srgbClr val="102A43"/>
                </a:solidFill>
                <a:latin typeface="Arial"/>
              </a:rPr>
              <a:t>columna vertebral</a:t>
            </a:r>
            <a:r>
              <a:rPr sz="1500" b="0">
                <a:solidFill>
                  <a:srgbClr val="1A2733"/>
                </a:solidFill>
                <a:latin typeface="Arial"/>
              </a:rPr>
              <a:t> que vuelve ese talento escalable.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10911535" cy="1143000"/>
          </a:xfrm>
          <a:prstGeom prst="rect">
            <a:avLst/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50800" cy="1143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0241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2A43"/>
                </a:solidFill>
                <a:latin typeface="Arial"/>
              </a:rPr>
              <a:t>La paradoja: </a:t>
            </a:r>
            <a:r>
              <a:rPr sz="1500" b="0">
                <a:solidFill>
                  <a:srgbClr val="1A2733"/>
                </a:solidFill>
                <a:latin typeface="Arial"/>
              </a:rPr>
              <a:t>vende “cercanía al candidato” mientras la critican en LinkedIn por falta de seguimiento, y ya presentó dos veces el mismo candidato al mismo cliente. El cuello de botella no es de manos — es de proceso.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1153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1C7C8C"/>
                </a:solidFill>
                <a:latin typeface="Arial"/>
              </a:rPr>
              <a:t>•  </a:t>
            </a:r>
            <a:r>
              <a:rPr sz="1450" b="0">
                <a:solidFill>
                  <a:srgbClr val="1A2733"/>
                </a:solidFill>
                <a:latin typeface="Arial"/>
              </a:rPr>
              <a:t>4 reclutadores trabajan de 4 formas distintas, sin documentar ni estandarizar.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1C7C8C"/>
                </a:solidFill>
                <a:latin typeface="Arial"/>
              </a:rPr>
              <a:t>•  </a:t>
            </a:r>
            <a:r>
              <a:rPr sz="1450" b="0">
                <a:solidFill>
                  <a:srgbClr val="1A2733"/>
                </a:solidFill>
                <a:latin typeface="Arial"/>
              </a:rPr>
              <a:t>Cero métricas: sin línea base no hay ROI demostrable ni precio premium.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1C7C8C"/>
                </a:solidFill>
                <a:latin typeface="Arial"/>
              </a:rPr>
              <a:t>•  </a:t>
            </a:r>
            <a:r>
              <a:rPr sz="1450" b="0">
                <a:solidFill>
                  <a:srgbClr val="1A2733"/>
                </a:solidFill>
                <a:latin typeface="Arial"/>
              </a:rPr>
              <a:t>La base de ~4.000 candidatos no es buscable — “el oro” está sin refinar.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01 ·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Dónde estás hoy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908792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4572000"/>
                <a:gridCol w="4233672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Dimensión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Estado actual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Implicación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02A43"/>
                          </a:solidFill>
                          <a:latin typeface="Arial"/>
                        </a:rPr>
                        <a:t>Proceso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733"/>
                          </a:solidFill>
                          <a:latin typeface="Arial"/>
                        </a:rPr>
                        <a:t>4 reclutadores, 4 métodos; sin documentar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733"/>
                          </a:solidFill>
                          <a:latin typeface="Arial"/>
                        </a:rPr>
                        <a:t>El criterio no escala ni se transfiere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02A43"/>
                          </a:solidFill>
                          <a:latin typeface="Arial"/>
                        </a:rPr>
                        <a:t>Datos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733"/>
                          </a:solidFill>
                          <a:latin typeface="Arial"/>
                        </a:rPr>
                        <a:t>~4.000 candidatos sin etiquetar ni vigencia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733"/>
                          </a:solidFill>
                          <a:latin typeface="Arial"/>
                        </a:rPr>
                        <a:t>No buscable; ~30–50% probablemente caduco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02A43"/>
                          </a:solidFill>
                          <a:latin typeface="Arial"/>
                        </a:rPr>
                        <a:t>Tecnología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733"/>
                          </a:solidFill>
                          <a:latin typeface="Arial"/>
                        </a:rPr>
                        <a:t>Team Tailor con IA sin explotar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733"/>
                          </a:solidFill>
                          <a:latin typeface="Arial"/>
                        </a:rPr>
                        <a:t>Se paga capacidad que no se usa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02A43"/>
                          </a:solidFill>
                          <a:latin typeface="Arial"/>
                        </a:rPr>
                        <a:t>Métricas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733"/>
                          </a:solidFill>
                          <a:latin typeface="Arial"/>
                        </a:rPr>
                        <a:t>Inexistentes (“no métricas”)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733"/>
                          </a:solidFill>
                          <a:latin typeface="Arial"/>
                        </a:rPr>
                        <a:t>Sin línea base no hay ROI ni precio premium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02A43"/>
                          </a:solidFill>
                          <a:latin typeface="Arial"/>
                        </a:rPr>
                        <a:t>Experiencia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733"/>
                          </a:solidFill>
                          <a:latin typeface="Arial"/>
                        </a:rPr>
                        <a:t>Sin seguimiento; críticas en LinkedIn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733"/>
                          </a:solidFill>
                          <a:latin typeface="Arial"/>
                        </a:rPr>
                        <a:t>La marca dice “cercanía”, el candidato no la siente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FB4C6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FB4C6"/>
                </a:solidFill>
                <a:latin typeface="Arial"/>
              </a:rPr>
              <a:t>‹TU CONSULTORA›   ·  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A227"/>
                </a:solidFill>
                <a:latin typeface="Arial"/>
              </a:rPr>
              <a:t>02 · NUESTRO ENFOQUE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Estandarizar </a:t>
            </a:r>
            <a:r>
              <a:rPr sz="3000" b="1">
                <a:solidFill>
                  <a:srgbClr val="2E9CAD"/>
                </a:solidFill>
                <a:latin typeface="Arial"/>
              </a:rPr>
              <a:t>antes de automatizar.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</a:pPr>
            <a:r>
              <a:rPr sz="1600" b="0">
                <a:solidFill>
                  <a:srgbClr val="C2D4E2"/>
                </a:solidFill>
                <a:latin typeface="Arial"/>
              </a:rPr>
              <a:t>Meter IA sobre el desorden solo produce malos resultados más rápido. El diferenciador no es la IA — es la disciplina de proceso que ningún competidor copia sin el criterio humano detrás.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069080"/>
            <a:ext cx="2468880" cy="868680"/>
          </a:xfrm>
          <a:prstGeom prst="rect">
            <a:avLst/>
          </a:prstGeom>
          <a:solidFill>
            <a:srgbClr val="163A55"/>
          </a:solidFill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1. Estandarizar el criterio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069080"/>
            <a:ext cx="38404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9A227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3008" y="4069080"/>
            <a:ext cx="2468880" cy="868680"/>
          </a:xfrm>
          <a:prstGeom prst="rect">
            <a:avLst/>
          </a:prstGeom>
          <a:solidFill>
            <a:srgbClr val="163A55"/>
          </a:solidFill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406908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2. Medir líneas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4069080"/>
            <a:ext cx="38404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9A227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5936" y="4069080"/>
            <a:ext cx="2468880" cy="868680"/>
          </a:xfrm>
          <a:prstGeom prst="rect">
            <a:avLst/>
          </a:prstGeom>
          <a:solidFill>
            <a:srgbClr val="163A55"/>
          </a:solidFill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406908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3. Estructurar los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6" y="4069080"/>
            <a:ext cx="38404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9A227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4" y="4069080"/>
            <a:ext cx="2468880" cy="868680"/>
          </a:xfrm>
          <a:prstGeom prst="rect">
            <a:avLst/>
          </a:prstGeom>
          <a:solidFill>
            <a:srgbClr val="163A55"/>
          </a:solidFill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4" y="4069080"/>
            <a:ext cx="2468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4. IA asistida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9A227"/>
                </a:solidFill>
                <a:latin typeface="Arial"/>
              </a:rPr>
              <a:t>Sí a la IA y a la velocidad que pediste — y para que rindan de verdad, primero el orden. </a:t>
            </a:r>
            <a:r>
              <a:rPr sz="1500" b="0">
                <a:solidFill>
                  <a:srgbClr val="C2D4E2"/>
                </a:solidFill>
                <a:latin typeface="Arial"/>
              </a:rPr>
              <a:t>La IA no es el final del camino; es la consecuencia de hacerlo bien.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02 · TU VISIÓN, AFINADA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Sí, y — honramos lo que pediste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B6B7B"/>
                </a:solidFill>
                <a:latin typeface="Arial"/>
              </a:rPr>
              <a:t>Coincidimos en el qué. Aquí va el cómo, contigo como socia.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75104"/>
            <a:ext cx="38100" cy="4572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38528"/>
            <a:ext cx="1071036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“Quiero una persona más”   </a:t>
            </a:r>
            <a:r>
              <a:rPr sz="1300" b="1">
                <a:solidFill>
                  <a:srgbClr val="C9A227"/>
                </a:solidFill>
                <a:latin typeface="Arial"/>
              </a:rPr>
              <a:t>→  </a:t>
            </a:r>
            <a:r>
              <a:rPr sz="1300" b="0">
                <a:solidFill>
                  <a:srgbClr val="1A2733"/>
                </a:solidFill>
                <a:latin typeface="Arial"/>
              </a:rPr>
              <a:t>Sí, y primero una herramienta que multiplique las manos del equipo que ya tienes; si aun así hace falta gente, la sumas sabiendo exactamente para qué.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42032"/>
            <a:ext cx="38100" cy="4572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505456"/>
            <a:ext cx="1071036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“Seis agentes de IA”   </a:t>
            </a:r>
            <a:r>
              <a:rPr sz="1300" b="1">
                <a:solidFill>
                  <a:srgbClr val="C9A227"/>
                </a:solidFill>
                <a:latin typeface="Arial"/>
              </a:rPr>
              <a:t>→  </a:t>
            </a:r>
            <a:r>
              <a:rPr sz="1300" b="0">
                <a:solidFill>
                  <a:srgbClr val="1A2733"/>
                </a:solidFill>
                <a:latin typeface="Arial"/>
              </a:rPr>
              <a:t>Sí, y arrancamos por el que más te quita el sueño y más valor te da. Uno bien hecho abre la puerta a los demás.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08960"/>
            <a:ext cx="38100" cy="4572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072384"/>
            <a:ext cx="1071036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“La base es oro, vale ~60%”   </a:t>
            </a:r>
            <a:r>
              <a:rPr sz="1300" b="1">
                <a:solidFill>
                  <a:srgbClr val="C9A227"/>
                </a:solidFill>
                <a:latin typeface="Arial"/>
              </a:rPr>
              <a:t>→  </a:t>
            </a:r>
            <a:r>
              <a:rPr sz="1300" b="0">
                <a:solidFill>
                  <a:srgbClr val="1A2733"/>
                </a:solidFill>
                <a:latin typeface="Arial"/>
              </a:rPr>
              <a:t>Sí, y la puliremos para que valga lo que sabes: hoy es oro en bruto, sin clasificar y con una parte ya envejecida.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75888"/>
            <a:ext cx="38100" cy="4572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639312"/>
            <a:ext cx="1071036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“Vendamos el benchmark salarial”   </a:t>
            </a:r>
            <a:r>
              <a:rPr sz="1300" b="1">
                <a:solidFill>
                  <a:srgbClr val="C9A227"/>
                </a:solidFill>
                <a:latin typeface="Arial"/>
              </a:rPr>
              <a:t>→  </a:t>
            </a:r>
            <a:r>
              <a:rPr sz="1300" b="0">
                <a:solidFill>
                  <a:srgbClr val="1A2733"/>
                </a:solidFill>
                <a:latin typeface="Arial"/>
              </a:rPr>
              <a:t>Sí, y por la puerta de adelante: anonimizado con dictamen legal, o de la mano de un proveedor licenciado.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42816"/>
            <a:ext cx="38100" cy="4572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206240"/>
            <a:ext cx="1071036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“Salir del ATS / mismo día”   </a:t>
            </a:r>
            <a:r>
              <a:rPr sz="1300" b="1">
                <a:solidFill>
                  <a:srgbClr val="C9A227"/>
                </a:solidFill>
                <a:latin typeface="Arial"/>
              </a:rPr>
              <a:t>→  </a:t>
            </a:r>
            <a:r>
              <a:rPr sz="1300" b="0">
                <a:solidFill>
                  <a:srgbClr val="1A2733"/>
                </a:solidFill>
                <a:latin typeface="Arial"/>
              </a:rPr>
              <a:t>Sí, y primero exprimimos lo que ya pagas y lo medimos. Migrar después, con números. El “mismo día” es nuestro norte.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74920"/>
            <a:ext cx="10911535" cy="914400"/>
          </a:xfrm>
          <a:prstGeom prst="rect">
            <a:avLst/>
          </a:prstGeom>
          <a:solidFill>
            <a:srgbClr val="EEF5F6"/>
          </a:solidFill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074920"/>
            <a:ext cx="50800" cy="914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424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Arial"/>
              </a:rPr>
              <a:t>Blindar tu legado:  </a:t>
            </a:r>
            <a:r>
              <a:rPr sz="1400" b="0">
                <a:solidFill>
                  <a:srgbClr val="1A2733"/>
                </a:solidFill>
                <a:latin typeface="Arial"/>
              </a:rPr>
              <a:t>no venimos a “extraerte el cerebro”, sino a poner tu ojo clínico de 20 años en un sistema que lo protege y lo multiplica — aunque tú no estés en la sala.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03 · TU DECISIÓN DE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Empecemos por una victoria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3749039" cy="41605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3749039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9CAD"/>
                </a:solidFill>
                <a:latin typeface="Arial"/>
              </a:rPr>
              <a:t>FASE 0 · ARRANQUE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US$2.500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3200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C7C8C"/>
                </a:solidFill>
                <a:latin typeface="Arial"/>
              </a:rPr>
              <a:t>•  </a:t>
            </a:r>
            <a:r>
              <a:rPr sz="1350" b="0">
                <a:solidFill>
                  <a:srgbClr val="C2D4E2"/>
                </a:solidFill>
                <a:latin typeface="Arial"/>
              </a:rPr>
              <a:t>2–3 semanas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C7C8C"/>
                </a:solidFill>
                <a:latin typeface="Arial"/>
              </a:rPr>
              <a:t>•  </a:t>
            </a:r>
            <a:r>
              <a:rPr sz="1350" b="0">
                <a:solidFill>
                  <a:srgbClr val="C2D4E2"/>
                </a:solidFill>
                <a:latin typeface="Arial"/>
              </a:rPr>
              <a:t>Quick wins + prueba de valor con tus datos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C7C8C"/>
                </a:solidFill>
                <a:latin typeface="Arial"/>
              </a:rPr>
              <a:t>•  </a:t>
            </a:r>
            <a:r>
              <a:rPr sz="1350" b="0">
                <a:solidFill>
                  <a:srgbClr val="C2D4E2"/>
                </a:solidFill>
                <a:latin typeface="Arial"/>
              </a:rPr>
              <a:t>100% acreditable a la siguiente fase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C7C8C"/>
                </a:solidFill>
                <a:latin typeface="Arial"/>
              </a:rPr>
              <a:t>•  </a:t>
            </a:r>
            <a:r>
              <a:rPr sz="1350" b="0">
                <a:solidFill>
                  <a:srgbClr val="C2D4E2"/>
                </a:solidFill>
                <a:latin typeface="Arial"/>
              </a:rPr>
              <a:t>Cerca de tu presupuesto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600200"/>
            <a:ext cx="67665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C7C8C"/>
                </a:solidFill>
                <a:latin typeface="Arial"/>
              </a:rPr>
              <a:t>•  </a:t>
            </a:r>
            <a:r>
              <a:rPr sz="1500" b="0">
                <a:solidFill>
                  <a:srgbClr val="1A2733"/>
                </a:solidFill>
                <a:latin typeface="Arial"/>
              </a:rPr>
              <a:t>Una prueba pagada, con resultado visible en 2–3 semanas.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C7C8C"/>
                </a:solidFill>
                <a:latin typeface="Arial"/>
              </a:rPr>
              <a:t>•  </a:t>
            </a:r>
            <a:r>
              <a:rPr sz="1500" b="0">
                <a:solidFill>
                  <a:srgbClr val="1A2733"/>
                </a:solidFill>
                <a:latin typeface="Arial"/>
              </a:rPr>
              <a:t>Cerca de tu presupuesto, no un salto al vacío.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C7C8C"/>
                </a:solidFill>
                <a:latin typeface="Arial"/>
              </a:rPr>
              <a:t>•  </a:t>
            </a:r>
            <a:r>
              <a:rPr sz="1500" b="0">
                <a:solidFill>
                  <a:srgbClr val="1A2733"/>
                </a:solidFill>
                <a:latin typeface="Arial"/>
              </a:rPr>
              <a:t>El 100% se acredita a la siguiente fase si avanzas — baja tu riesgo, no es descuento.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C7C8C"/>
                </a:solidFill>
                <a:latin typeface="Arial"/>
              </a:rPr>
              <a:t>•  </a:t>
            </a:r>
            <a:r>
              <a:rPr sz="1500" b="0">
                <a:solidFill>
                  <a:srgbClr val="1A2733"/>
                </a:solidFill>
                <a:latin typeface="Arial"/>
              </a:rPr>
              <a:t>Estandarizar, IA y escala los cotizamos DESPUÉS, con tus datos reales en mano.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C7C8C"/>
                </a:solidFill>
                <a:latin typeface="Arial"/>
              </a:rPr>
              <a:t>•  </a:t>
            </a:r>
            <a:r>
              <a:rPr sz="1500" b="0">
                <a:solidFill>
                  <a:srgbClr val="1A2733"/>
                </a:solidFill>
                <a:latin typeface="Arial"/>
              </a:rPr>
              <a:t>No te pedimos comprometerte con todo a ciegas: primero ves, luego decides.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5532120"/>
            <a:ext cx="676656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5532120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Arial"/>
              </a:rPr>
              <a:t>Tu decisión de hoy es pequeña; el resto se gana con datos.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03 · LA DEMO VIVA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Lo que te llevas en 3 semanas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C7C8C"/>
                </a:solidFill>
                <a:latin typeface="Arial"/>
              </a:rPr>
              <a:t>Con TUS datos, no en abstracto: lo ves, lo tocas, y desde ahí decides el siguiente paso.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402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2A43"/>
                </a:solidFill>
                <a:latin typeface="Arial"/>
              </a:rPr>
              <a:t>La IA trabajando con tus datos:  </a:t>
            </a:r>
            <a:r>
              <a:rPr sz="1500" b="0">
                <a:solidFill>
                  <a:srgbClr val="1A2733"/>
                </a:solidFill>
                <a:latin typeface="Arial"/>
              </a:rPr>
              <a:t>20–30 CVs reales de una vacante tuya abierta, ordenados con tu criterio replicado — en un entorno con DPA, cumpliendo desde el día 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36392"/>
            <a:ext cx="457200" cy="4572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363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136392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2A43"/>
                </a:solidFill>
                <a:latin typeface="Arial"/>
              </a:rPr>
              <a:t>Tu CV con el sello de la firma:  </a:t>
            </a:r>
            <a:r>
              <a:rPr sz="1500" b="0">
                <a:solidFill>
                  <a:srgbClr val="1A2733"/>
                </a:solidFill>
                <a:latin typeface="Arial"/>
              </a:rPr>
              <a:t>plantilla única, ya montada sobre un candidato real.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32504"/>
            <a:ext cx="457200" cy="4572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325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032504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2A43"/>
                </a:solidFill>
                <a:latin typeface="Arial"/>
              </a:rPr>
              <a:t>Registro anti-duplicado funcionando:  </a:t>
            </a:r>
            <a:r>
              <a:rPr sz="1500" b="0">
                <a:solidFill>
                  <a:srgbClr val="1A2733"/>
                </a:solidFill>
                <a:latin typeface="Arial"/>
              </a:rPr>
              <a:t>se acaba el bochorno de presentar dos veces al mismo candidato.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28616"/>
            <a:ext cx="457200" cy="4572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286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928616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2A43"/>
                </a:solidFill>
                <a:latin typeface="Arial"/>
              </a:rPr>
              <a:t>El semáforo honesto:  </a:t>
            </a:r>
            <a:r>
              <a:rPr sz="1500" b="0">
                <a:solidFill>
                  <a:srgbClr val="1A2733"/>
                </a:solidFill>
                <a:latin typeface="Arial"/>
              </a:rPr>
              <a:t>te decimos si tu base realmente se puede exportar y cuánto de los 4.000 sigue vigente.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04 · CÓMO MEDIMOS EL ÉXITO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De “cero métricas” a un cuadro de mando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908792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5212080"/>
                <a:gridCol w="1828800"/>
                <a:gridCol w="149047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Qué mide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Línea base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Meta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Arial"/>
                        </a:rPr>
                        <a:t>Time-to-terna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Días de apertura a terna entregada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~5 días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48–72h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Arial"/>
                        </a:rPr>
                        <a:t>Aceptación de terna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% de ternas que el cliente aprueba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a medir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↑ sostenido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Arial"/>
                        </a:rPr>
                        <a:t>Rotación a 90 días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% de colocados que salen &lt;90 días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a medir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↓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Arial"/>
                        </a:rPr>
                        <a:t>Cobertura base interna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% de mandatos cubiertos sin sourcing externo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~0% hoy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↑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Arial"/>
                        </a:rPr>
                        <a:t>Salud de la base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% de candidatos vigentes y etiquetados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desconocida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↑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Arial"/>
                        </a:rPr>
                        <a:t>Experiencia (CSAT)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% de candidatos satisfechos (con n)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a medir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2733"/>
                          </a:solidFill>
                          <a:latin typeface="Arial"/>
                        </a:rPr>
                        <a:t>≥ 80%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B"/>
                </a:solidFill>
                <a:latin typeface="Arial"/>
              </a:rPr>
              <a:t>Crear las líneas base (hoy inexistentes) es parte del valor de la Fase 1 — y la prueba de tu ROI.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04 · EL RETORNO EN TUS NÚMEROS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Lo que vale cada terna entregada más rápido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A2733"/>
                </a:solidFill>
                <a:latin typeface="Arial"/>
              </a:rPr>
              <a:t>Pasar tu terna de ~5 días a 48–72h no es solo comodidad: es ganar mandatos que hoy se enfrían o se lleva otro.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10911535" cy="84124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50800" cy="8412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9CAD"/>
                </a:solidFill>
                <a:latin typeface="Arial"/>
              </a:rPr>
              <a:t>Fórmula:  </a:t>
            </a:r>
            <a:r>
              <a:rPr sz="1500" b="0">
                <a:solidFill>
                  <a:srgbClr val="FFFFFF"/>
                </a:solidFill>
                <a:latin typeface="Arial"/>
              </a:rPr>
              <a:t>(colocaciones extra que cierras por presentar primero) × (tu fee por colocación) = </a:t>
            </a:r>
            <a:r>
              <a:rPr sz="1500" b="1">
                <a:solidFill>
                  <a:srgbClr val="C9A227"/>
                </a:solidFill>
                <a:latin typeface="Arial"/>
              </a:rPr>
              <a:t>retorno</a:t>
            </a:r>
            <a:r>
              <a:rPr sz="1500" b="0">
                <a:solidFill>
                  <a:srgbClr val="FFFFFF"/>
                </a:solidFill>
                <a:latin typeface="Arial"/>
              </a:rPr>
              <a:t>.  Una sola colocación adicional ya cubre la Fase 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29000"/>
            <a:ext cx="10911535" cy="914400"/>
          </a:xfrm>
          <a:prstGeom prst="rect">
            <a:avLst/>
          </a:prstGeom>
          <a:solidFill>
            <a:srgbClr val="EEF5F6"/>
          </a:solidFill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10424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02A43"/>
                </a:solidFill>
                <a:latin typeface="Arial"/>
              </a:rPr>
              <a:t>Ejemplo — lo llenamos con tus números:  </a:t>
            </a:r>
            <a:r>
              <a:rPr sz="1350" b="0">
                <a:solidFill>
                  <a:srgbClr val="1A2733"/>
                </a:solidFill>
                <a:latin typeface="Arial"/>
              </a:rPr>
              <a:t>salario anual US$18,000 × fee 15% = US$2,700 por colocación. Si esto te ayuda a cerrar 1 colocación que hoy perderías, ya recuperaste los US$2,500 de la Fase 0.  </a:t>
            </a:r>
            <a:r>
              <a:rPr sz="1250" b="0">
                <a:solidFill>
                  <a:srgbClr val="5B6B7B"/>
                </a:solidFill>
                <a:latin typeface="Arial"/>
              </a:rPr>
              <a:t>(Números de marcador, no promesa.)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9115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•  </a:t>
            </a:r>
            <a:r>
              <a:rPr sz="1350" b="1">
                <a:solidFill>
                  <a:srgbClr val="102A43"/>
                </a:solidFill>
                <a:latin typeface="Arial"/>
              </a:rPr>
              <a:t>Lo honesto: </a:t>
            </a:r>
            <a:r>
              <a:rPr sz="1350" b="0">
                <a:solidFill>
                  <a:srgbClr val="1A2733"/>
                </a:solidFill>
                <a:latin typeface="Arial"/>
              </a:rPr>
              <a:t>el ejemplo usa un fee conservador supuesto —prudente, no inflado—. El caso ya se sostiene; si me pasas tu fee real cuando puedas, lo afino. No es tarea para hoy.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•  </a:t>
            </a:r>
            <a:r>
              <a:rPr sz="1350" b="1">
                <a:solidFill>
                  <a:srgbClr val="102A43"/>
                </a:solidFill>
                <a:latin typeface="Arial"/>
              </a:rPr>
              <a:t>Caveat: </a:t>
            </a:r>
            <a:r>
              <a:rPr sz="1350" b="0">
                <a:solidFill>
                  <a:srgbClr val="1A2733"/>
                </a:solidFill>
                <a:latin typeface="Arial"/>
              </a:rPr>
              <a:t>aplica solo si hoy pierdes mandatos por velocidad —no si tienes capacidad ociosa—; esa es la primera pregunta del martes. La velocidad te pone primera en la fila; no prometemos colocaciones.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05 · INVERSIÓN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Tu decisión de hoy — y el horizonte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11535" cy="1280160"/>
          </a:xfrm>
          <a:prstGeom prst="rect">
            <a:avLst/>
          </a:prstGeom>
          <a:solidFill>
            <a:srgbClr val="EEF5F6"/>
          </a:solidFill>
          <a:ln w="1905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28016" cy="128016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64792"/>
            <a:ext cx="71323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02A43"/>
                </a:solidFill>
                <a:latin typeface="Arial"/>
              </a:rPr>
              <a:t>Empezamos aquí — Fase 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B6B7B"/>
                </a:solidFill>
                <a:latin typeface="Arial"/>
              </a:rPr>
              <a:t>Quick wins + prueba de valor con tus datos · 2–3 semanas · 100% acreditable a la Fase 1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C8C"/>
                </a:solidFill>
                <a:latin typeface="Arial"/>
              </a:rPr>
              <a:t>Tu seguro: te quedas los activos; avanzas a la Fase 1 solo si la Puerta 0 pasa su vara objetiva. Sin letra chica.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600200"/>
            <a:ext cx="301752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C7C8C"/>
                </a:solidFill>
                <a:latin typeface="Arial"/>
              </a:rPr>
              <a:t>US$2.500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950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La cuenta real:  </a:t>
            </a:r>
            <a:r>
              <a:rPr sz="1200" b="0">
                <a:solidFill>
                  <a:srgbClr val="5B6B7B"/>
                </a:solidFill>
                <a:latin typeface="Arial"/>
              </a:rPr>
              <a:t>temporal (~$2.000) + Fase 0 ($2.500) = $4.500  ·  vs. el 5º reclutador que pediste (~$15k/año). Esa es la vara.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55264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B7B"/>
                </a:solidFill>
                <a:latin typeface="Arial"/>
              </a:rPr>
              <a:t>El horizonte completo (referencia — no es lo que decides hoy; cada fase se cotiza y firma por separado):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80"/>
            <a:ext cx="3502152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611880"/>
            <a:ext cx="3502152" cy="914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Sistema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B"/>
                </a:solidFill>
                <a:latin typeface="Arial"/>
              </a:rPr>
              <a:t>Fases 0 + 1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5B6B7B"/>
                </a:solidFill>
                <a:latin typeface="Arial"/>
              </a:rPr>
              <a:t>~US$12.000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3611880"/>
            <a:ext cx="3502152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611880"/>
            <a:ext cx="3502152" cy="914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79476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Sistema + piloto IA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B"/>
                </a:solidFill>
                <a:latin typeface="Arial"/>
              </a:rPr>
              <a:t>Fases 0 + 1 + 2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5B6B7B"/>
                </a:solidFill>
                <a:latin typeface="Arial"/>
              </a:rPr>
              <a:t>~US$24.000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611880"/>
            <a:ext cx="3502152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611880"/>
            <a:ext cx="3502152" cy="914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79476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Programa completo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B"/>
                </a:solidFill>
                <a:latin typeface="Arial"/>
              </a:rPr>
              <a:t>Fases 0–3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5B6B7B"/>
                </a:solidFill>
                <a:latin typeface="Arial"/>
              </a:rPr>
              <a:t>desde ~US$39.000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66360"/>
            <a:ext cx="10911535" cy="777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9A227"/>
                </a:solidFill>
                <a:latin typeface="Arial"/>
              </a:rPr>
              <a:t>Cómo cobramos:  </a:t>
            </a:r>
            <a:r>
              <a:rPr sz="1350" b="0">
                <a:solidFill>
                  <a:srgbClr val="FFFFFF"/>
                </a:solidFill>
                <a:latin typeface="Arial"/>
              </a:rPr>
              <a:t>precio cerrado por fase — pagas solo lo que apruebas en cada puerta. Sin retainer ni cobro por “éxito” al inicio: no hay aún línea base para medirlo de forma justa.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06 · RIESGOS Y CUMPLIMIENTO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Lo gestionamos por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908792" cy="42245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6702552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Riesgo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Mitigación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2A43"/>
                          </a:solidFill>
                          <a:latin typeface="Arial"/>
                        </a:rPr>
                        <a:t>Protección de datos — El Salvador ya regula (Decreto 144/2024, vigente)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733"/>
                          </a:solidFill>
                          <a:latin typeface="Arial"/>
                        </a:rPr>
                        <a:t>Consentimiento por finalidad, registro, retención y responsable de datos desde la Fase 1. Cumplimiento por diseño = argumento de venta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2A43"/>
                          </a:solidFill>
                          <a:latin typeface="Arial"/>
                        </a:rPr>
                        <a:t>Vender el benchmark salarial = bandera roja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733"/>
                          </a:solidFill>
                          <a:latin typeface="Arial"/>
                        </a:rPr>
                        <a:t>Congelado hasta dictamen de abogado salvadoreño + anonimización irreversible (k-anonimato)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2A43"/>
                          </a:solidFill>
                          <a:latin typeface="Arial"/>
                        </a:rPr>
                        <a:t>Sesgo en cribado automático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733"/>
                          </a:solidFill>
                          <a:latin typeface="Arial"/>
                        </a:rPr>
                        <a:t>Humano-en-el-bucle obligatorio; la IA nunca rechaza sola; auditoría de sesgo y trazabilidad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2A43"/>
                          </a:solidFill>
                          <a:latin typeface="Arial"/>
                        </a:rPr>
                        <a:t>API de Team Tailor no verificada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733"/>
                          </a:solidFill>
                          <a:latin typeface="Arial"/>
                        </a:rPr>
                        <a:t>Spike de factibilidad en la Fase 0 (semana 1); plan B de captura acotada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2A43"/>
                          </a:solidFill>
                          <a:latin typeface="Arial"/>
                        </a:rPr>
                        <a:t>Datos en Guatemala (transferencia SV–GT)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733"/>
                          </a:solidFill>
                          <a:latin typeface="Arial"/>
                        </a:rPr>
                        <a:t>R&amp;S opera en SV+GT. GT aún sin ley general; transferencia con DPA y minimización. El estándar se construye una vez y se despliega en ambos países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2A43"/>
                          </a:solidFill>
                          <a:latin typeface="Arial"/>
                        </a:rPr>
                        <a:t>Adopción del equipo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733"/>
                          </a:solidFill>
                          <a:latin typeface="Arial"/>
                        </a:rPr>
                        <a:t>Co-diseño con los reclutadores; el rol extra como embajador de marca, no operativo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06 · EL CAMINO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Las cuatro fases — el mapa, no el pedido de hoy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11535" cy="502920"/>
          </a:xfrm>
          <a:prstGeom prst="rect">
            <a:avLst/>
          </a:prstGeom>
          <a:solidFill>
            <a:srgbClr val="EEF5F6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Arial"/>
              </a:rPr>
              <a:t>Referencia: </a:t>
            </a:r>
            <a:r>
              <a:rPr sz="1250" b="0">
                <a:solidFill>
                  <a:srgbClr val="1A2733"/>
                </a:solidFill>
                <a:latin typeface="Arial"/>
              </a:rPr>
              <a:t>hoy solo decides la Fase 0. Cada fase siguiente se cotiza y se firma por separado, con datos reales en mano.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258568"/>
          <a:ext cx="10908792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77240"/>
                <a:gridCol w="2697480"/>
                <a:gridCol w="1097280"/>
                <a:gridCol w="1188720"/>
                <a:gridCol w="1691640"/>
                <a:gridCol w="3456432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Fase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Nombre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Duración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Esfuerzo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Inversión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Resultado / Puerta</a:t>
                      </a:r>
                    </a:p>
                  </a:txBody>
                  <a:tcPr marT="38100" marB="38100" marL="76200" marR="76200" anchor="ctr">
                    <a:solidFill>
                      <a:srgbClr val="102A43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2A43"/>
                          </a:solidFill>
                          <a:latin typeface="Arial"/>
                        </a:rPr>
                        <a:t>0 ◀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Quick Wins + prueba de valor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2–3 sem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8–12 jorn.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US$2.500*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Empezamos aquí: 2 quick wins + semáforo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2A4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Estandarizar, Documentar, Medir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4–6 sem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20–30 jorn.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~US$9.500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La “columna vertebral”: SOPs, rúbrica, métricas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2A4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IA asistida (modular)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6–8 sem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25–35 jorn.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~US$12.000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Screener/Ranker + Generador de CV (con HITL)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2A4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Activo de datos y escala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horizonte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a dimensionar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desde 15.000 /
retainer 3.500/mes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733"/>
                          </a:solidFill>
                          <a:latin typeface="Arial"/>
                        </a:rPr>
                        <a:t>Base buscable, mercado interno, benchmark</a:t>
                      </a:r>
                    </a:p>
                  </a:txBody>
                  <a:tcPr marT="38100" marB="38100" marL="76200" marR="7620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B7B"/>
                </a:solidFill>
                <a:latin typeface="Arial"/>
              </a:rPr>
              <a:t>* La Fase 0 acredita el 100% a la Fase 1. Cifras indicativas en USD, a calibrar con tu tarifa local y tu fee por colocación.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06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Cómo se ve en el tiempo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874519"/>
            <a:ext cx="10160" cy="310896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6276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Arial"/>
              </a:rPr>
              <a:t>S1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874519"/>
            <a:ext cx="10160" cy="310896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6276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Arial"/>
              </a:rPr>
              <a:t>S2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874519"/>
            <a:ext cx="10160" cy="310896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6276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Arial"/>
              </a:rPr>
              <a:t>S4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874519"/>
            <a:ext cx="10160" cy="310896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6276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Arial"/>
              </a:rPr>
              <a:t>S6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1874519"/>
            <a:ext cx="10160" cy="310896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276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Arial"/>
              </a:rPr>
              <a:t>S8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874519"/>
            <a:ext cx="10160" cy="310896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6276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Arial"/>
              </a:rPr>
              <a:t>S10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874519"/>
            <a:ext cx="10160" cy="310896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6276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Arial"/>
              </a:rPr>
              <a:t>S12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1874519"/>
            <a:ext cx="10160" cy="310896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16276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Arial"/>
              </a:rPr>
              <a:t>S14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292840" y="1874519"/>
            <a:ext cx="10160" cy="310896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09960" y="16276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B7B"/>
                </a:solidFill>
                <a:latin typeface="Arial"/>
              </a:rPr>
              <a:t>S16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05740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Fase 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48840" y="2057400"/>
            <a:ext cx="1714500" cy="457200"/>
          </a:xfrm>
          <a:prstGeom prst="roundRect">
            <a:avLst/>
          </a:prstGeom>
          <a:solidFill>
            <a:srgbClr val="2E9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70632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Fase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2770632"/>
            <a:ext cx="3429000" cy="457200"/>
          </a:xfrm>
          <a:prstGeom prst="round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483864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Fase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3483864"/>
            <a:ext cx="4000500" cy="457200"/>
          </a:xfrm>
          <a:prstGeom prst="roundRect">
            <a:avLst/>
          </a:prstGeom>
          <a:solidFill>
            <a:srgbClr val="1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19709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Fase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4197096"/>
            <a:ext cx="3429000" cy="45720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212080"/>
            <a:ext cx="10911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C7C8C"/>
                </a:solidFill>
                <a:latin typeface="Arial"/>
              </a:rPr>
              <a:t>•  </a:t>
            </a:r>
            <a:r>
              <a:rPr sz="1300" b="0">
                <a:solidFill>
                  <a:srgbClr val="1A2733"/>
                </a:solidFill>
                <a:latin typeface="Arial"/>
              </a:rPr>
              <a:t>Hoy decides la Fase 0 (semanas 1–3). Lo demás se cotiza al pasar cada puerta.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C7C8C"/>
                </a:solidFill>
                <a:latin typeface="Arial"/>
              </a:rPr>
              <a:t>•  </a:t>
            </a:r>
            <a:r>
              <a:rPr sz="1300" b="0">
                <a:solidFill>
                  <a:srgbClr val="1A2733"/>
                </a:solidFill>
                <a:latin typeface="Arial"/>
              </a:rPr>
              <a:t>Las fases se solapan poco y con apoyo puntual donde se requiere — no depende de una sola persona.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C7C8C"/>
                </a:solidFill>
                <a:latin typeface="Arial"/>
              </a:rPr>
              <a:t>•  </a:t>
            </a:r>
            <a:r>
              <a:rPr sz="1300" b="0">
                <a:solidFill>
                  <a:srgbClr val="1A2733"/>
                </a:solidFill>
                <a:latin typeface="Arial"/>
              </a:rPr>
              <a:t>Cada puerta go/no-go es una decisión explícita de continuar, reordenar o detener.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ANEXO · HORIZONTE — FASE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Estandarizar, Documentar y Medir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828800" cy="38404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  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600200"/>
            <a:ext cx="8869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B7B"/>
                </a:solidFill>
                <a:latin typeface="Arial"/>
              </a:rPr>
              <a:t>4–6 semanas · 20–30 jornadas · ~US$9.500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Arial"/>
              </a:rPr>
              <a:t>Objetivo:  </a:t>
            </a:r>
            <a:r>
              <a:rPr sz="1400" b="0">
                <a:solidFill>
                  <a:srgbClr val="1A2733"/>
                </a:solidFill>
                <a:latin typeface="Arial"/>
              </a:rPr>
              <a:t>instalar la columna vertebral. Aquí vive el valor real y la capacidad que se queda.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34056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C7C8C"/>
                </a:solidFill>
                <a:latin typeface="Arial"/>
              </a:rPr>
              <a:t>Entregables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•  </a:t>
            </a:r>
            <a:r>
              <a:rPr sz="1250" b="1">
                <a:solidFill>
                  <a:srgbClr val="102A43"/>
                </a:solidFill>
                <a:latin typeface="Arial"/>
              </a:rPr>
              <a:t>Mapa de proceso “deber ser”: </a:t>
            </a:r>
            <a:r>
              <a:rPr sz="1250" b="0">
                <a:solidFill>
                  <a:srgbClr val="1A2733"/>
                </a:solidFill>
                <a:latin typeface="Arial"/>
              </a:rPr>
              <a:t>los 8 pasos con RACI, SLA por etapa y dueño nombrado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•  </a:t>
            </a:r>
            <a:r>
              <a:rPr sz="1250" b="1">
                <a:solidFill>
                  <a:srgbClr val="102A43"/>
                </a:solidFill>
                <a:latin typeface="Arial"/>
              </a:rPr>
              <a:t>SOP de cribado + rúbrica + golden set: </a:t>
            </a:r>
            <a:r>
              <a:rPr sz="1250" b="0">
                <a:solidFill>
                  <a:srgbClr val="1A2733"/>
                </a:solidFill>
                <a:latin typeface="Arial"/>
              </a:rPr>
              <a:t>tu ojo clínico hecho criterios y pesos — el entregable estrella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•  </a:t>
            </a:r>
            <a:r>
              <a:rPr sz="1250" b="1">
                <a:solidFill>
                  <a:srgbClr val="102A43"/>
                </a:solidFill>
                <a:latin typeface="Arial"/>
              </a:rPr>
              <a:t>Scorecard de intake: </a:t>
            </a:r>
            <a:r>
              <a:rPr sz="1250" b="0">
                <a:solidFill>
                  <a:srgbClr val="1A2733"/>
                </a:solidFill>
                <a:latin typeface="Arial"/>
              </a:rPr>
              <a:t>1 página por vacante: must/nice-to-have, pesos, éxito a 90 días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•  </a:t>
            </a:r>
            <a:r>
              <a:rPr sz="1250" b="1">
                <a:solidFill>
                  <a:srgbClr val="102A43"/>
                </a:solidFill>
                <a:latin typeface="Arial"/>
              </a:rPr>
              <a:t>Árbol de métricas + estandarización del ATS: </a:t>
            </a:r>
            <a:r>
              <a:rPr sz="1250" b="0">
                <a:solidFill>
                  <a:srgbClr val="1A2733"/>
                </a:solidFill>
                <a:latin typeface="Arial"/>
              </a:rPr>
              <a:t>1 North Star + ~10 KPIs; etapas y campos obligatorios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•  </a:t>
            </a:r>
            <a:r>
              <a:rPr sz="1250" b="1">
                <a:solidFill>
                  <a:srgbClr val="102A43"/>
                </a:solidFill>
                <a:latin typeface="Arial"/>
              </a:rPr>
              <a:t>Gobernanza de datos + taxonomía v1: </a:t>
            </a:r>
            <a:r>
              <a:rPr sz="1250" b="0">
                <a:solidFill>
                  <a:srgbClr val="1A2733"/>
                </a:solidFill>
                <a:latin typeface="Arial"/>
              </a:rPr>
              <a:t>RoPA-lite, base legal por finalidad, diccionario de 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532120"/>
            <a:ext cx="10911535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532120"/>
            <a:ext cx="50800" cy="6858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7C8C"/>
                </a:solidFill>
                <a:latin typeface="Arial"/>
              </a:rPr>
              <a:t>Puerta 1 →  </a:t>
            </a:r>
            <a:r>
              <a:rPr sz="1200" b="0">
                <a:solidFill>
                  <a:srgbClr val="1A2733"/>
                </a:solidFill>
                <a:latin typeface="Arial"/>
              </a:rPr>
              <a:t>etapas estandarizadas; SOP + rúbrica firmados; golden set armado; baseline medido. La IA no arranca sin esto.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ANEXO · HORIZONTE —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IA asistida (modular)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828800" cy="384048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  FASE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600200"/>
            <a:ext cx="8869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B7B"/>
                </a:solidFill>
                <a:latin typeface="Arial"/>
              </a:rPr>
              <a:t>6–8 semanas · 25–35 jornadas · ~US$12.000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Arial"/>
              </a:rPr>
              <a:t>Objetivo:  </a:t>
            </a:r>
            <a:r>
              <a:rPr sz="1400" b="0">
                <a:solidFill>
                  <a:srgbClr val="1A2733"/>
                </a:solidFill>
                <a:latin typeface="Arial"/>
              </a:rPr>
              <a:t>acelerar lo que ya probó su criterio. Solo módulos que pasen la “Puerta Listo para IA”.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34056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C7C8C"/>
                </a:solidFill>
                <a:latin typeface="Arial"/>
              </a:rPr>
              <a:t>Entregables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•  </a:t>
            </a:r>
            <a:r>
              <a:rPr sz="1250" b="1">
                <a:solidFill>
                  <a:srgbClr val="102A43"/>
                </a:solidFill>
                <a:latin typeface="Arial"/>
              </a:rPr>
              <a:t>Screener/Ranker asistido (~US$7.000): </a:t>
            </a:r>
            <a:r>
              <a:rPr sz="1250" b="0">
                <a:solidFill>
                  <a:srgbClr val="1A2733"/>
                </a:solidFill>
                <a:latin typeface="Arial"/>
              </a:rPr>
              <a:t>des-identifica PII → puntúa vs scorecard con justificación → pre-ordena. El humano valida; la IA nunca rechaza sola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•  </a:t>
            </a:r>
            <a:r>
              <a:rPr sz="1250" b="1">
                <a:solidFill>
                  <a:srgbClr val="102A43"/>
                </a:solidFill>
                <a:latin typeface="Arial"/>
              </a:rPr>
              <a:t>Generador de CV con branding (~US$4.000): </a:t>
            </a:r>
            <a:r>
              <a:rPr sz="1250" b="0">
                <a:solidFill>
                  <a:srgbClr val="1A2733"/>
                </a:solidFill>
                <a:latin typeface="Arial"/>
              </a:rPr>
              <a:t>extracción a esquema fijo + plantilla determinista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•  </a:t>
            </a:r>
            <a:r>
              <a:rPr sz="1250" b="1">
                <a:solidFill>
                  <a:srgbClr val="102A43"/>
                </a:solidFill>
                <a:latin typeface="Arial"/>
              </a:rPr>
              <a:t>Medición vs línea base + auditoría de sesgo: </a:t>
            </a:r>
            <a:r>
              <a:rPr sz="1250" b="0">
                <a:solidFill>
                  <a:srgbClr val="1A2733"/>
                </a:solidFill>
                <a:latin typeface="Arial"/>
              </a:rPr>
              <a:t>trazabilidad de prompts, criterios y scores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532120"/>
            <a:ext cx="10911535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145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532120"/>
            <a:ext cx="50800" cy="685800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506B"/>
                </a:solidFill>
                <a:latin typeface="Arial"/>
              </a:rPr>
              <a:t>Puerta 2 →  </a:t>
            </a:r>
            <a:r>
              <a:rPr sz="1200" b="0">
                <a:solidFill>
                  <a:srgbClr val="1A2733"/>
                </a:solidFill>
                <a:latin typeface="Arial"/>
              </a:rPr>
              <a:t>concordancia IA-vs-ojo clínico ≥ umbral en búsquedas reales; sin sesgo relevante; mejora medible de time-to-terna.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ANEXO · HORIZONTE — FASE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Activo de datos y escala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828800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  FASE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600200"/>
            <a:ext cx="8869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B7B"/>
                </a:solidFill>
                <a:latin typeface="Arial"/>
              </a:rPr>
              <a:t>horizonte · land-and-expand · desde US$15.000 o retainer US$3.500/mes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Arial"/>
              </a:rPr>
              <a:t>Objetivo:  </a:t>
            </a:r>
            <a:r>
              <a:rPr sz="1400" b="0">
                <a:solidFill>
                  <a:srgbClr val="1A2733"/>
                </a:solidFill>
                <a:latin typeface="Arial"/>
              </a:rPr>
              <a:t>convertir la base en activo líquido y abrir nuevas líneas. Condicionada a las fases previas.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34056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C7C8C"/>
                </a:solidFill>
                <a:latin typeface="Arial"/>
              </a:rPr>
              <a:t>Entregables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•  </a:t>
            </a:r>
            <a:r>
              <a:rPr sz="1250" b="1">
                <a:solidFill>
                  <a:srgbClr val="102A43"/>
                </a:solidFill>
                <a:latin typeface="Arial"/>
              </a:rPr>
              <a:t>Enriquecimiento de la base: </a:t>
            </a:r>
            <a:r>
              <a:rPr sz="1250" b="0">
                <a:solidFill>
                  <a:srgbClr val="1A2733"/>
                </a:solidFill>
                <a:latin typeface="Arial"/>
              </a:rPr>
              <a:t>parsing, golden record, score de vigencia → búsqueda por skill e internal-fill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•  </a:t>
            </a:r>
            <a:r>
              <a:rPr sz="1250" b="1">
                <a:solidFill>
                  <a:srgbClr val="102A43"/>
                </a:solidFill>
                <a:latin typeface="Arial"/>
              </a:rPr>
              <a:t>Mercado interno / historial de candidato: </a:t>
            </a:r>
            <a:r>
              <a:rPr sz="1250" b="0">
                <a:solidFill>
                  <a:srgbClr val="1A2733"/>
                </a:solidFill>
                <a:latin typeface="Arial"/>
              </a:rPr>
              <a:t>+ portal de auto-actualización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•  </a:t>
            </a:r>
            <a:r>
              <a:rPr sz="1250" b="1">
                <a:solidFill>
                  <a:srgbClr val="102A43"/>
                </a:solidFill>
                <a:latin typeface="Arial"/>
              </a:rPr>
              <a:t>Decisión augmentar-vs-migrar Team Tailor: </a:t>
            </a:r>
            <a:r>
              <a:rPr sz="1250" b="0">
                <a:solidFill>
                  <a:srgbClr val="1A2733"/>
                </a:solidFill>
                <a:latin typeface="Arial"/>
              </a:rPr>
              <a:t>con datos y caso de negocio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•  </a:t>
            </a:r>
            <a:r>
              <a:rPr sz="1250" b="1">
                <a:solidFill>
                  <a:srgbClr val="102A43"/>
                </a:solidFill>
                <a:latin typeface="Arial"/>
              </a:rPr>
              <a:t>Benchmark de compensaciones: </a:t>
            </a:r>
            <a:r>
              <a:rPr sz="1250" b="0">
                <a:solidFill>
                  <a:srgbClr val="1A2733"/>
                </a:solidFill>
                <a:latin typeface="Arial"/>
              </a:rPr>
              <a:t>solo con validación legal, k-anonimato y consentimiento — o alianza con proveedor licenciado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532120"/>
            <a:ext cx="10911535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532120"/>
            <a:ext cx="50800" cy="685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Puerta 3 →  </a:t>
            </a:r>
            <a:r>
              <a:rPr sz="1200" b="0">
                <a:solidFill>
                  <a:srgbClr val="1A2733"/>
                </a:solidFill>
                <a:latin typeface="Arial"/>
              </a:rPr>
              <a:t>cada nueva línea se autofinancia con el valor demostrado en las fases previas.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C7C8C"/>
                </a:solidFill>
                <a:latin typeface="Arial"/>
              </a:rPr>
              <a:t>06 · PARA ARRANCAR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02A43"/>
                </a:solidFill>
                <a:latin typeface="Arial"/>
              </a:rPr>
              <a:t>Qué necesitamos de ti y próximos pasos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35024"/>
            <a:ext cx="146304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Confidencial · Conexión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94015" y="6437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A8B4C0"/>
                </a:solidFill>
                <a:latin typeface="Arial"/>
              </a:rPr>
              <a:t>‹TU CONSULTORA›   ·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Qué necesitamos de Conexión Talento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4864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C7C8C"/>
                </a:solidFill>
                <a:latin typeface="Arial"/>
              </a:rPr>
              <a:t>•  </a:t>
            </a:r>
            <a:r>
              <a:rPr sz="1300" b="0">
                <a:solidFill>
                  <a:srgbClr val="1A2733"/>
                </a:solidFill>
                <a:latin typeface="Arial"/>
              </a:rPr>
              <a:t>Un CV real anonimizado (por correo) — para el teaser del viernes.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C7C8C"/>
                </a:solidFill>
                <a:latin typeface="Arial"/>
              </a:rPr>
              <a:t>•  </a:t>
            </a:r>
            <a:r>
              <a:rPr sz="1300" b="0">
                <a:solidFill>
                  <a:srgbClr val="1A2733"/>
                </a:solidFill>
                <a:latin typeface="Arial"/>
              </a:rPr>
              <a:t>Acceso de lectura a Team Tailor — el lunes (lead time).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C7C8C"/>
                </a:solidFill>
                <a:latin typeface="Arial"/>
              </a:rPr>
              <a:t>•  </a:t>
            </a:r>
            <a:r>
              <a:rPr sz="1300" b="0">
                <a:solidFill>
                  <a:srgbClr val="1A2733"/>
                </a:solidFill>
                <a:latin typeface="Arial"/>
              </a:rPr>
              <a:t>Contacto de tu abogado/a — el lunes.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C7C8C"/>
                </a:solidFill>
                <a:latin typeface="Arial"/>
              </a:rPr>
              <a:t>•  </a:t>
            </a:r>
            <a:r>
              <a:rPr sz="1300" b="0">
                <a:solidFill>
                  <a:srgbClr val="1A2733"/>
                </a:solidFill>
                <a:latin typeface="Arial"/>
              </a:rPr>
              <a:t>Fee por colocación + volumen de mandatos/mes.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C7C8C"/>
                </a:solidFill>
                <a:latin typeface="Arial"/>
              </a:rPr>
              <a:t>•  </a:t>
            </a:r>
            <a:r>
              <a:rPr sz="1300" b="0">
                <a:solidFill>
                  <a:srgbClr val="1A2733"/>
                </a:solidFill>
                <a:latin typeface="Arial"/>
              </a:rPr>
              <a:t>Confirmación del consentimiento de la 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C7C8C"/>
                </a:solidFill>
                <a:latin typeface="Arial"/>
              </a:rPr>
              <a:t>Próximos pasos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103120"/>
            <a:ext cx="502920" cy="502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03120"/>
            <a:ext cx="4206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733"/>
                </a:solidFill>
                <a:latin typeface="Arial"/>
              </a:rPr>
              <a:t>Firmar la orden de la Fase 0 (1 página): US$2.500, 50% de anticipo — tu decisión de hoy.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017520"/>
            <a:ext cx="502920" cy="502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017520"/>
            <a:ext cx="4206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733"/>
                </a:solidFill>
                <a:latin typeface="Arial"/>
              </a:rPr>
              <a:t>Esta semana: CV anonimizado (o sintético) → teaser branded + registro anti-duplicado en vivo, con DPA.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931920"/>
            <a:ext cx="502920" cy="502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931920"/>
            <a:ext cx="4206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733"/>
                </a:solidFill>
                <a:latin typeface="Arial"/>
              </a:rPr>
              <a:t>Lunes: acceso a Team Tailor + abogado/a. Demo + semáforo en 2–3 semanas.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Empezamos pequeño, demostramos valor con tus datos,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2E9CAD"/>
                </a:solidFill>
                <a:latin typeface="Arial"/>
              </a:rPr>
              <a:t>y escalamos solo lo que funciona.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2D4E2"/>
                </a:solidFill>
                <a:latin typeface="Arial"/>
              </a:rPr>
              <a:t>Tu decisión de hoy es chica: una victoria visible en 3 semanas. El resto se gana con datos, fase por fase — y con tu ojo clínico en el centro de todo.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Gracias, Virginia. — ‹TU CONSULTORA› · Data, IA &amp; Transformación Digital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