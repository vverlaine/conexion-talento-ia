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PROPUESTA DE ARRANQUE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Tu ojo clínico,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vuelto un sistema que 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Ordenar y medir el motor de Reclutamiento &amp; Selección y —con tu criterio— activar la IA y tu base de talento. Empezamos por una victoria concreta en 3 semanas, no por un gran compromiso.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15000"/>
            <a:ext cx="10515600" cy="12700"/>
          </a:xfrm>
          <a:prstGeom prst="rect">
            <a:avLst/>
          </a:prstGeom>
          <a:solidFill>
            <a:srgbClr val="2A4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para: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Virginia — CEO, Conexión Talento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Preparado por: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Vértice · Data, IA &amp; Transf. Digital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58978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FB4C6"/>
                </a:solidFill>
                <a:latin typeface="Arial"/>
              </a:rPr>
              <a:t>Fecha: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HOJA DE RUTA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2880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El reto y el diagnóstico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42032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542032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Nuestro enfoque: estandarizar antes de automatizar — con la IA, no sin ella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5526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55264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Empecemos por una victoria: la Fase 0 y lo que te llevas en 3 semanas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6849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968496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Cómo medimos el éxito y qué vale en tus dólares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817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681728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Inversión: tu decisión de hoy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solidFill>
            <a:srgbClr val="F5F7FA"/>
          </a:solidFill>
          <a:ln w="1524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94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94960"/>
            <a:ext cx="10058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1A2733"/>
                </a:solidFill>
                <a:latin typeface="Arial"/>
              </a:rPr>
              <a:t>Riesgos, el camino completo y próximos pasos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ENTENDIMIENTO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El reto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2733"/>
                </a:solidFill>
                <a:latin typeface="Arial"/>
              </a:rPr>
              <a:t>Conexión Talento vive de su motor de Reclutamiento &amp; Selección — </a:t>
            </a:r>
            <a:r>
              <a:rPr sz="1500" b="1">
                <a:solidFill>
                  <a:srgbClr val="102A43"/>
                </a:solidFill>
                <a:latin typeface="Arial"/>
              </a:rPr>
              <a:t>el 63% de los ingresos</a:t>
            </a:r>
            <a:r>
              <a:rPr sz="1500" b="0">
                <a:solidFill>
                  <a:srgbClr val="1A2733"/>
                </a:solidFill>
                <a:latin typeface="Arial"/>
              </a:rPr>
              <a:t>. Tiene activos poco comunes: el ojo clínico de Virginia, su sistema de candidatos (Team Tailor) y ~4.000 perfiles. Lo que falta no son herramientas: es la </a:t>
            </a:r>
            <a:r>
              <a:rPr sz="1500" b="1">
                <a:solidFill>
                  <a:srgbClr val="102A43"/>
                </a:solidFill>
                <a:latin typeface="Arial"/>
              </a:rPr>
              <a:t>columna vertebral</a:t>
            </a:r>
            <a:r>
              <a:rPr sz="1500" b="0">
                <a:solidFill>
                  <a:srgbClr val="1A2733"/>
                </a:solidFill>
                <a:latin typeface="Arial"/>
              </a:rPr>
              <a:t> que vuelve ese talento escalable.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88920"/>
            <a:ext cx="10911535" cy="1143000"/>
          </a:xfrm>
          <a:prstGeom prst="rect">
            <a:avLst/>
          </a:prstGeom>
          <a:solidFill>
            <a:srgbClr val="EE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50800" cy="11430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2412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2A43"/>
                </a:solidFill>
                <a:latin typeface="Arial"/>
              </a:rPr>
              <a:t>La paradoja: </a:t>
            </a:r>
            <a:r>
              <a:rPr sz="1500" b="0">
                <a:solidFill>
                  <a:srgbClr val="1A2733"/>
                </a:solidFill>
                <a:latin typeface="Arial"/>
              </a:rPr>
              <a:t>vende “cercanía al candidato” mientras la critican en LinkedIn por falta de seguimiento, y ya presentó dos veces el mismo candidato al mismo cliente. El cuello de botella no es de manos — es de proceso.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11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4 reclutadores trabajan de 4 formas distintas, sin documentar ni estandarizar.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Cero métricas: sin línea base no hay ROI demostrable ni precio premium.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•  </a:t>
            </a:r>
            <a:r>
              <a:rPr sz="1450" b="0">
                <a:solidFill>
                  <a:srgbClr val="1A2733"/>
                </a:solidFill>
                <a:latin typeface="Arial"/>
              </a:rPr>
              <a:t>La base de ~4.000 candidatos no es buscable — “el oro” está sin refinar.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01 · DIAGNÓSTICO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Dónde estás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572000"/>
                <a:gridCol w="4233672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Dimensión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Estado actual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Implicación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Proceso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4 reclutadores, 4 métodos; sin documentar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El criterio no escala ni se transfiere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Datos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~4.000 candidatos sin etiquetar ni vigencia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No buscable; ~30–50% probablemente caduco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Tecnología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Team Tailor con IA sin explotar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Se paga capacidad que no se usa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Inexistentes (“no métricas”)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línea base no hay ROI ni precio premium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102A43"/>
                          </a:solidFill>
                          <a:latin typeface="Arial"/>
                        </a:rPr>
                        <a:t>Experiencia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Sin seguimiento; críticas en LinkedIn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1A2733"/>
                          </a:solidFill>
                          <a:latin typeface="Arial"/>
                        </a:rPr>
                        <a:t>La marca dice “cercanía”, el candidato no la siente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9FB4C6"/>
                </a:solidFill>
                <a:latin typeface="Arial"/>
              </a:rPr>
              <a:t>Vértice   · 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9A227"/>
                </a:solidFill>
                <a:latin typeface="Arial"/>
              </a:rPr>
              <a:t>02 · NUESTRO ENFOQUE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789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Estandarizar </a:t>
            </a:r>
            <a:r>
              <a:rPr sz="3000" b="1">
                <a:solidFill>
                  <a:srgbClr val="2E9CAD"/>
                </a:solidFill>
                <a:latin typeface="Arial"/>
              </a:rPr>
              <a:t>antes de automatizar.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400"/>
              </a:spcAft>
            </a:pPr>
            <a:r>
              <a:rPr sz="1600" b="0">
                <a:solidFill>
                  <a:srgbClr val="C2D4E2"/>
                </a:solidFill>
                <a:latin typeface="Arial"/>
              </a:rPr>
              <a:t>Meter IA sobre el desorden solo produce malos resultados más rápido. El diferenciador no es la IA — es la disciplina de proceso que ningún competidor copia sin el criterio humano detrás.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1. Estandarizar el criterio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2. Medir líneas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3. Estructurar los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4816" y="4069080"/>
            <a:ext cx="3840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C9A227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solidFill>
            <a:srgbClr val="163A55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4" y="4069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Arial"/>
              </a:rPr>
              <a:t>4. IA asistida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9A227"/>
                </a:solidFill>
                <a:latin typeface="Arial"/>
              </a:rPr>
              <a:t>Sí a la IA y a la velocidad que pediste — y para que rindan de verdad, primero el orden. </a:t>
            </a:r>
            <a:r>
              <a:rPr sz="1500" b="0">
                <a:solidFill>
                  <a:srgbClr val="C2D4E2"/>
                </a:solidFill>
                <a:latin typeface="Arial"/>
              </a:rPr>
              <a:t>La IA no es el final del camino; es la consecuencia de hacerlo bien.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02 · TU VISIÓN, AFINADA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Sí, y — honramos lo que pediste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B7B"/>
                </a:solidFill>
                <a:latin typeface="Arial"/>
              </a:rPr>
              <a:t>Coincidimos en el qué. Aquí va el cómo, contigo como socia.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75104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938528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“Quiero una persona más”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una herramienta que multiplique las manos del equipo que ya tienes; si aun así hace falta gente, la sumas sabiendo exactamente para qué.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05456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“Seis agentes de IA”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arrancamos por el que más te quita el sueño y más valor te da. Uno bien hecho abre la puerta a los demás.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072384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“La base es oro, vale ~60%”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la puliremos para que valga lo que sabes: hoy es oro en bruto, sin clasificar y con una parte ya envejecida.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75888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639312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“Vendamos el comparativo salarial de mercado”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por la puerta de adelante: anonimizado con dictamen legal, o de la mano de un proveedor licenciado.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38100" cy="4572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206240"/>
            <a:ext cx="1071036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“Salir del sistema de candidatos (Team Tailor) / mismo día”   </a:t>
            </a:r>
            <a:r>
              <a:rPr sz="1300" b="1">
                <a:solidFill>
                  <a:srgbClr val="C9A227"/>
                </a:solidFill>
                <a:latin typeface="Arial"/>
              </a:rPr>
              <a:t>→  </a:t>
            </a:r>
            <a:r>
              <a:rPr sz="1300" b="0">
                <a:solidFill>
                  <a:srgbClr val="1A2733"/>
                </a:solidFill>
                <a:latin typeface="Arial"/>
              </a:rPr>
              <a:t>Sí, y primero exprimimos lo que ya pagas y lo medimos. Migrar después, con números. El “mismo día” es nuestro norte.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7492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74920"/>
            <a:ext cx="50800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7492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Blindar tu legado:  </a:t>
            </a:r>
            <a:r>
              <a:rPr sz="1400" b="0">
                <a:solidFill>
                  <a:srgbClr val="1A2733"/>
                </a:solidFill>
                <a:latin typeface="Arial"/>
              </a:rPr>
              <a:t>no venimos a “extraerte el cerebro”, sino a poner tu ojo clínico de 20 años en un sistema que lo protege y lo multiplica — aunque tú no estés en la sala.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TU DECISIÓN DE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Empecemos por una victoria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3749039" cy="416052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749039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E9CAD"/>
                </a:solidFill>
                <a:latin typeface="Arial"/>
              </a:rPr>
              <a:t>FASE 0 · ARRANQUE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3200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2–3 semanas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Victorias rápidas + prueba de valor con tus datos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50% acreditable a la siguiente fase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0">
                <a:solidFill>
                  <a:srgbClr val="C2D4E2"/>
                </a:solidFill>
                <a:latin typeface="Arial"/>
              </a:rPr>
              <a:t>Cerca de tu presupuesto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600200"/>
            <a:ext cx="67665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Una prueba pagada, con resultado visible en 2–3 semanas.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Cerca de tu presupuesto, no un salto al vacío.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El 50% se acredita a la siguiente fase si avanzas — baja tu riesgo, no es descuento.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Estandarizar, IA y escala los cotizamos DESPUÉS, con tus datos reales en mano.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C7C8C"/>
                </a:solidFill>
                <a:latin typeface="Arial"/>
              </a:rPr>
              <a:t>•  </a:t>
            </a:r>
            <a:r>
              <a:rPr sz="1500" b="0">
                <a:solidFill>
                  <a:srgbClr val="1A2733"/>
                </a:solidFill>
                <a:latin typeface="Arial"/>
              </a:rPr>
              <a:t>No te pedimos comprometerte con todo a ciegas: primero ves, luego decides.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5532120"/>
            <a:ext cx="676656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5532120"/>
            <a:ext cx="6400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Tu decisión de hoy es pequeña; el resto se gana con datos.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03 · LA DEMO VIVA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te llevas en 3 semanas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C7C8C"/>
                </a:solidFill>
                <a:latin typeface="Arial"/>
              </a:rPr>
              <a:t>Con TUS datos, no en abstracto: lo ves, lo tocas, y desde ahí decides el siguiente paso.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2140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12140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Horas de vuelta esta semana:  </a:t>
            </a:r>
            <a:r>
              <a:rPr sz="1450" b="0">
                <a:solidFill>
                  <a:srgbClr val="1A2733"/>
                </a:solidFill>
                <a:latin typeface="Arial"/>
              </a:rPr>
              <a:t>activamos la IA que Team Tailor ya cobra, sobre una vacante viva — alivio inmediato, con nuestra mano (no la de la temporal).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4436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4436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4436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La IA trabajando con tus datos:  </a:t>
            </a:r>
            <a:r>
              <a:rPr sz="1450" b="0">
                <a:solidFill>
                  <a:srgbClr val="1A2733"/>
                </a:solidFill>
                <a:latin typeface="Arial"/>
              </a:rPr>
              <a:t>20–30 CVs reales ordenados con tu criterio replicado — en un entorno con acuerdo de protección de datos, cumpliendo desde el día 1.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6732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6732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Tu CV con el sello de la firma:  </a:t>
            </a:r>
            <a:r>
              <a:rPr sz="1450" b="0">
                <a:solidFill>
                  <a:srgbClr val="1A2733"/>
                </a:solidFill>
                <a:latin typeface="Arial"/>
              </a:rPr>
              <a:t>plantilla única, ya montada sobre un candidato real.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59028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9028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59028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Registro anti-duplicado funcionando:  </a:t>
            </a:r>
            <a:r>
              <a:rPr sz="1450" b="0">
                <a:solidFill>
                  <a:srgbClr val="1A2733"/>
                </a:solidFill>
                <a:latin typeface="Arial"/>
              </a:rPr>
              <a:t>se acaba el bochorno de presentar dos veces al mismo candidato.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13248"/>
            <a:ext cx="420624" cy="4206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41324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13248"/>
            <a:ext cx="1014984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Arial"/>
              </a:rPr>
              <a:t>El semáforo honesto:  </a:t>
            </a:r>
            <a:r>
              <a:rPr sz="1450" b="0">
                <a:solidFill>
                  <a:srgbClr val="1A2733"/>
                </a:solidFill>
                <a:latin typeface="Arial"/>
              </a:rPr>
              <a:t>te decimos si tu base realmente se puede exportar y cuánto de los 4.000 sigue vigente.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CÓMO MEDIMOS EL ÉXITO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De “cero métricas” a un cuadro de mando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5212080"/>
                <a:gridCol w="1828800"/>
                <a:gridCol w="149047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Indicador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Qué mide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Línea base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Tiempo hasta la terna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Días de apertura a terna entregada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~5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48–72h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Aceptación de 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ternas que el cliente aprueba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 sostenido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Rotación a 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colocados que salen &lt;90 días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↓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Cobertura base interna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mandatos cubiertos sin búsqueda externa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~0% hoy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Salud de la base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vigentes y etiquetados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desconocida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↑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02A43"/>
                          </a:solidFill>
                          <a:latin typeface="Arial"/>
                        </a:rPr>
                        <a:t>Experiencia (satisfacción)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% de candidatos satisfechos (con muestra)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a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>
                          <a:solidFill>
                            <a:srgbClr val="1A2733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Crear las líneas base (hoy inexistentes) es parte del valor de la Fase 1 — y la prueba de tu ROI.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04 · EL RETORNO EN TUS NÚMEROS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que vale cada terna entregada más rápido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A2733"/>
                </a:solidFill>
                <a:latin typeface="Arial"/>
              </a:rPr>
              <a:t>Pasar tu terna de ~5 días a 48–72h no es solo comodidad: es ganar mandatos que hoy se enfrían o se lleva otro.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10911535" cy="84124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31720"/>
            <a:ext cx="50800" cy="8412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E9CAD"/>
                </a:solidFill>
                <a:latin typeface="Arial"/>
              </a:rPr>
              <a:t>Fórmula:  </a:t>
            </a:r>
            <a:r>
              <a:rPr sz="1500" b="0">
                <a:solidFill>
                  <a:srgbClr val="FFFFFF"/>
                </a:solidFill>
                <a:latin typeface="Arial"/>
              </a:rPr>
              <a:t>(colocaciones extra que cierras por presentar primero) × (tu fee por colocación) = </a:t>
            </a:r>
            <a:r>
              <a:rPr sz="1500" b="1">
                <a:solidFill>
                  <a:srgbClr val="C9A227"/>
                </a:solidFill>
                <a:latin typeface="Arial"/>
              </a:rPr>
              <a:t>retorno</a:t>
            </a:r>
            <a:r>
              <a:rPr sz="1500" b="0">
                <a:solidFill>
                  <a:srgbClr val="FFFFFF"/>
                </a:solidFill>
                <a:latin typeface="Arial"/>
              </a:rPr>
              <a:t>.  Una sola colocación adicional ya cubre la Fase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10911535" cy="914400"/>
          </a:xfrm>
          <a:prstGeom prst="rect">
            <a:avLst/>
          </a:prstGeom>
          <a:solidFill>
            <a:srgbClr val="EEF5F6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02A43"/>
                </a:solidFill>
                <a:latin typeface="Arial"/>
              </a:rPr>
              <a:t>Ejemplo — lo llenamos con tus números:  </a:t>
            </a:r>
            <a:r>
              <a:rPr sz="1350" b="0">
                <a:solidFill>
                  <a:srgbClr val="1A2733"/>
                </a:solidFill>
                <a:latin typeface="Arial"/>
              </a:rPr>
              <a:t>salario anual US$18,000 × fee 15% = US$2,700 por colocación. Si esto te ayuda a cerrar 1 colocación que hoy perderías, ya recuperaste los US$2,500 de la Fase 0.  </a:t>
            </a:r>
            <a:r>
              <a:rPr sz="1250" b="0">
                <a:solidFill>
                  <a:srgbClr val="5B6B7B"/>
                </a:solidFill>
                <a:latin typeface="Arial"/>
              </a:rPr>
              <a:t>(Números de marcador, no promesa.)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115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Lo honesto: </a:t>
            </a:r>
            <a:r>
              <a:rPr sz="1350" b="0">
                <a:solidFill>
                  <a:srgbClr val="1A2733"/>
                </a:solidFill>
                <a:latin typeface="Arial"/>
              </a:rPr>
              <a:t>el ejemplo usa un fee conservador supuesto —prudente, no inflado—. El caso ya se sostiene; si me pasas tu fee real cuando puedas, lo afino. No es tarea para hoy.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350" b="1">
                <a:solidFill>
                  <a:srgbClr val="102A43"/>
                </a:solidFill>
                <a:latin typeface="Arial"/>
              </a:rPr>
              <a:t>Caveat: </a:t>
            </a:r>
            <a:r>
              <a:rPr sz="1350" b="0">
                <a:solidFill>
                  <a:srgbClr val="1A2733"/>
                </a:solidFill>
                <a:latin typeface="Arial"/>
              </a:rPr>
              <a:t>aplica solo si hoy pierdes mandatos por velocidad —no si tienes capacidad ociosa—; esa es la primera pregunta de nuestra primera sesión. La velocidad te pone primera en la fila; no prometemos colocaciones.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05 · INVERSIÓN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Tu decisión de hoy — y el horizonte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1280160"/>
          </a:xfrm>
          <a:prstGeom prst="rect">
            <a:avLst/>
          </a:prstGeom>
          <a:solidFill>
            <a:srgbClr val="EEF5F6"/>
          </a:solidFill>
          <a:ln w="1905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128016" cy="12801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64792"/>
            <a:ext cx="7132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02A43"/>
                </a:solidFill>
                <a:latin typeface="Arial"/>
              </a:rPr>
              <a:t>Empezamos aquí — Fase 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Victorias rápidas + prueba de valor con tus datos · 2–3 semanas · 50% acreditable a la Fase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Tu seguro: te quedas los activos; avanzas a la Fase 1 solo si la Puerta 0 pasa su vara objetiva. Sin letra chica.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600200"/>
            <a:ext cx="30175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C7C8C"/>
                </a:solidFill>
                <a:latin typeface="Arial"/>
              </a:rPr>
              <a:t>US$2.500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8950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La cuenta real:  </a:t>
            </a:r>
            <a:r>
              <a:rPr sz="1200" b="0">
                <a:solidFill>
                  <a:srgbClr val="5B6B7B"/>
                </a:solidFill>
                <a:latin typeface="Arial"/>
              </a:rPr>
              <a:t>temporal (~$2.000) + Fase 0 ($2.500) = $4.500  ·  vs. el 5º reclutador que pediste (~$15k/año). Esa es la vara.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55264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B7B"/>
                </a:solidFill>
                <a:latin typeface="Arial"/>
              </a:rPr>
              <a:t>El horizonte completo (referencia — no es lo que decides hoy; cada fase se cotiza y firma por separado):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~US$10.750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Sistema + piloto IA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 + 1 + 2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~US$22.750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611880"/>
            <a:ext cx="3502152" cy="1234440"/>
          </a:xfrm>
          <a:prstGeom prst="rect">
            <a:avLst/>
          </a:prstGeom>
          <a:solidFill>
            <a:srgbClr val="F5F7FA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611880"/>
            <a:ext cx="3502152" cy="914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79476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Programa completo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B7B"/>
                </a:solidFill>
                <a:latin typeface="Arial"/>
              </a:rPr>
              <a:t>Fases 0–3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5B6B7B"/>
                </a:solidFill>
                <a:latin typeface="Arial"/>
              </a:rPr>
              <a:t>desde ~US$37.750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66360"/>
            <a:ext cx="10911535" cy="7772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166360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9A227"/>
                </a:solidFill>
                <a:latin typeface="Arial"/>
              </a:rPr>
              <a:t>Cómo cobramos:  </a:t>
            </a:r>
            <a:r>
              <a:rPr sz="1350" b="0">
                <a:solidFill>
                  <a:srgbClr val="FFFFFF"/>
                </a:solidFill>
                <a:latin typeface="Arial"/>
              </a:rPr>
              <a:t>precio cerrado por fase — pagas solo lo que apruebas en cada puerta. Sin cuota fija mensual ni cobro por “éxito” al inicio: no hay aún línea base para medirlo de forma justa.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RIESGOS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Lo gestionamos por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08792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6702552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Riesgo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Mitigación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Protección de datos — El Salvador ya regula (Decreto 144/2024, vigente)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Consentimiento por finalidad, registro, retención y responsable de datos desde la Fase 1. Cumplimiento por diseño = argumento de venta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Vender el comparativo salarial de mercado = bandera roja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Congelado hasta dictamen de abogado salvadoreño + anonimización irreversible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Sesgo en el filtrado automático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Una persona validando siempre (obligatorio); la IA nunca rechaza sola; auditoría de sesgo y trazabilidad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Conexión técnica con Team Tailor no verificada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Prueba de factibilidad en la Fase 0 (semana 1); plan B de captura acotada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Datos en Guatemala (transferencia SV–GT)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Reclutamiento y Selección opera en SV+GT. GT aún sin ley general; transferencia con acuerdo de protección de datos y minimización de datos. El estándar se construye una vez y se despliega en ambos países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02A43"/>
                          </a:solidFill>
                          <a:latin typeface="Arial"/>
                        </a:rPr>
                        <a:t>Adopción del equipo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A2733"/>
                          </a:solidFill>
                          <a:latin typeface="Arial"/>
                        </a:rPr>
                        <a:t>Co-diseño con los reclutadores; el rol extra como embajador de marca, no operativo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EL CAMINO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Las cuatro fases — el mapa, no el pedido de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911535" cy="502920"/>
          </a:xfrm>
          <a:prstGeom prst="rect">
            <a:avLst/>
          </a:prstGeom>
          <a:solidFill>
            <a:srgbClr val="EEF5F6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Arial"/>
              </a:rPr>
              <a:t>Referencia: </a:t>
            </a:r>
            <a:r>
              <a:rPr sz="1250" b="0">
                <a:solidFill>
                  <a:srgbClr val="1A2733"/>
                </a:solidFill>
                <a:latin typeface="Arial"/>
              </a:rPr>
              <a:t>hoy solo decides la Fase 0. Cada fase siguiente se cotiza y se firma por separado, con datos reales en mano.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258568"/>
          <a:ext cx="10908792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77240"/>
                <a:gridCol w="2697480"/>
                <a:gridCol w="1097280"/>
                <a:gridCol w="1188720"/>
                <a:gridCol w="1691640"/>
                <a:gridCol w="3456432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Fase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Nombre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Duración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Esfuerzo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Inversión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Resultado / Puerta</a:t>
                      </a:r>
                    </a:p>
                  </a:txBody>
                  <a:tcPr marT="38100" marB="38100" marL="76200" marR="76200" anchor="ctr">
                    <a:solidFill>
                      <a:srgbClr val="102A43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0 ◀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Victorias rápidas + prueba de valor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2–3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10–14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US$2.500*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Empezamos aquí: 2 victorias rápidas + semáforo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Estandarizar, Documentar, Medir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4–6 sem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20–30 jorn.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~US$9.500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La “columna vertebral”: manuales de proceso, guía de puntuación, métricas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IA asistida (modular)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6–8 sem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25–35 jorn.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~US$12.000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Asistente que ordena candidatos + Generador de CV (con una persona validando)</a:t>
                      </a:r>
                    </a:p>
                  </a:txBody>
                  <a:tcPr marT="38100" marB="38100" marL="76200" marR="7620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02A4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Activo de datos y escala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horizonte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a dimensionar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desde 15.000 /
cuota fija 3.500/mes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2733"/>
                          </a:solidFill>
                          <a:latin typeface="Arial"/>
                        </a:rPr>
                        <a:t>Base buscable, mercado interno, comparativo salarial</a:t>
                      </a:r>
                    </a:p>
                  </a:txBody>
                  <a:tcPr marT="38100" marB="38100" marL="76200" marR="7620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B6B7B"/>
                </a:solidFill>
                <a:latin typeface="Arial"/>
              </a:rPr>
              <a:t>* La Fase 0 acredita el 50% (US$1.250) a la Fase 1. Cifras indicativas en USD, a calibrar con tu tarifa local y tu honorario por colocación.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Cómo se ve en el tiempo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5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23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92840" y="1874519"/>
            <a:ext cx="10160" cy="310896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09960" y="1627632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B7B"/>
                </a:solidFill>
                <a:latin typeface="Arial"/>
              </a:rPr>
              <a:t>S16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057400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48840" y="2057400"/>
            <a:ext cx="1714500" cy="457200"/>
          </a:xfrm>
          <a:prstGeom prst="roundRect">
            <a:avLst/>
          </a:prstGeom>
          <a:solidFill>
            <a:srgbClr val="2E9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770632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91840" y="2770632"/>
            <a:ext cx="3429000" cy="457200"/>
          </a:xfrm>
          <a:prstGeom prst="round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83864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0" y="3483864"/>
            <a:ext cx="4000500" cy="457200"/>
          </a:xfrm>
          <a:prstGeom prst="round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9709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Arial"/>
              </a:rPr>
              <a:t>Fase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4197096"/>
            <a:ext cx="3429000" cy="457200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212080"/>
            <a:ext cx="109115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Hoy decides la Fase 0 (semanas 1–3). Lo demás se cotiza al pasar cada puerta.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Las fases se solapan poco y con apoyo puntual donde se requiere — no depende de una sola persona.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Cada puerta es una decisión explícita de continuar, reordenar o detener.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Estandarizar, Documentar y Medir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4–6 semanas · 20–30 jornadas · ~US$9.500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instalar la columna vertebral. Aquí vive el valor real y la capacidad que se queda.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Mapa de proceso “deber ser”: </a:t>
            </a:r>
            <a:r>
              <a:rPr sz="1250" b="0">
                <a:solidFill>
                  <a:srgbClr val="1A2733"/>
                </a:solidFill>
                <a:latin typeface="Arial"/>
              </a:rPr>
              <a:t>los 8 pasos con quién hace qué, compromiso de tiempo de respuesta por etapa y dueño nombrado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Manual de filtrado + guía de puntuación + set de decisiones de referencia: </a:t>
            </a:r>
            <a:r>
              <a:rPr sz="1250" b="0">
                <a:solidFill>
                  <a:srgbClr val="1A2733"/>
                </a:solidFill>
                <a:latin typeface="Arial"/>
              </a:rPr>
              <a:t>tu ojo clínico hecho criterios y pesos — el entregable estrella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Hoja de criterios de la vacante: </a:t>
            </a:r>
            <a:r>
              <a:rPr sz="1250" b="0">
                <a:solidFill>
                  <a:srgbClr val="1A2733"/>
                </a:solidFill>
                <a:latin typeface="Arial"/>
              </a:rPr>
              <a:t>1 página por vacante: imprescindibles/deseables, pesos, éxito a 90 días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Árbol de métricas + estandarización de tu sistema de candidatos (Team Tailor): </a:t>
            </a:r>
            <a:r>
              <a:rPr sz="1250" b="0">
                <a:solidFill>
                  <a:srgbClr val="1A2733"/>
                </a:solidFill>
                <a:latin typeface="Arial"/>
              </a:rPr>
              <a:t>1 métrica guía + ~10 indicadores; etapas y campos obligatorios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Gobernanza de datos + clasificación v1: </a:t>
            </a:r>
            <a:r>
              <a:rPr sz="1250" b="0">
                <a:solidFill>
                  <a:srgbClr val="1A2733"/>
                </a:solidFill>
                <a:latin typeface="Arial"/>
              </a:rPr>
              <a:t>registro de datos que pide la ley (versión ligera), base legal por finalidad, diccionario de competencias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C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C7C8C"/>
                </a:solidFill>
                <a:latin typeface="Arial"/>
              </a:rPr>
              <a:t>Puerta 1 →  </a:t>
            </a:r>
            <a:r>
              <a:rPr sz="1200" b="0">
                <a:solidFill>
                  <a:srgbClr val="1A2733"/>
                </a:solidFill>
                <a:latin typeface="Arial"/>
              </a:rPr>
              <a:t>etapas estandarizadas; manual y guía de puntuación firmados; set de decisiones de referencia armado; línea base medida. La IA no arranca sin esto.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IA asistida (modular)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6–8 semanas · 25–35 jornadas · ~US$12.000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acelerar lo que ya probó su criterio. Solo módulos que pasen la “Puerta Listo para IA”.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Asistente que ordena candidatos (~US$7.000):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quita los datos personales → puntúa contra la hoja de criterios con justificación → pre-ordena. El humano valida; la IA nunca rechaza sola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Generador de CV con tu marca (~US$4.000):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lectura automática a un formato fijo + plantilla siempre igual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Medición vs línea base + auditoría de sesgo (~US$1.000): </a:t>
            </a:r>
            <a:r>
              <a:rPr sz="1250" b="0">
                <a:solidFill>
                  <a:srgbClr val="1A2733"/>
                </a:solidFill>
                <a:latin typeface="Arial"/>
              </a:rPr>
              <a:t>$7k + $4k + $1k = los US$12.000 de la fase; trazabilidad de instrucciones, criterios y puntajes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145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14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4506B"/>
                </a:solidFill>
                <a:latin typeface="Arial"/>
              </a:rPr>
              <a:t>Puerta 2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concordancia IA-vs-ojo clínico ≥ umbral en búsquedas reales; sin sesgo relevante; mejora medible del tiempo hasta la terna.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ANEXO · HORIZONTE —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Activo de datos y escala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  FASE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00200"/>
            <a:ext cx="88696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B7B"/>
                </a:solidFill>
                <a:latin typeface="Arial"/>
              </a:rPr>
              <a:t>horizonte · entrar y crecer · desde US$15.000 o cuota fija US$3.500/mes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67128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Arial"/>
              </a:rPr>
              <a:t>Objetivo:  </a:t>
            </a:r>
            <a:r>
              <a:rPr sz="1400" b="0">
                <a:solidFill>
                  <a:srgbClr val="1A2733"/>
                </a:solidFill>
                <a:latin typeface="Arial"/>
              </a:rPr>
              <a:t>convertir la base en activo líquido y abrir nuevas líneas. Condicionada a las fases previas.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34056"/>
            <a:ext cx="1091153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Entregables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Enriquecimiento de la base: </a:t>
            </a:r>
            <a:r>
              <a:rPr sz="1250" b="0">
                <a:solidFill>
                  <a:srgbClr val="1A2733"/>
                </a:solidFill>
                <a:latin typeface="Arial"/>
              </a:rPr>
              <a:t>lectura automática, ficha maestra única, puntaje de vigencia → búsqueda por competencia y cobertura con la base interna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Mercado interno / historial de candidato: </a:t>
            </a:r>
            <a:r>
              <a:rPr sz="1250" b="0">
                <a:solidFill>
                  <a:srgbClr val="1A2733"/>
                </a:solidFill>
                <a:latin typeface="Arial"/>
              </a:rPr>
              <a:t>+ portal de auto-actualización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Decisión de ampliar o migrar Team Tailor: </a:t>
            </a:r>
            <a:r>
              <a:rPr sz="1250" b="0">
                <a:solidFill>
                  <a:srgbClr val="1A2733"/>
                </a:solidFill>
                <a:latin typeface="Arial"/>
              </a:rPr>
              <a:t>con datos y caso de negocio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•  </a:t>
            </a:r>
            <a:r>
              <a:rPr sz="1250" b="1">
                <a:solidFill>
                  <a:srgbClr val="102A43"/>
                </a:solidFill>
                <a:latin typeface="Arial"/>
              </a:rPr>
              <a:t>Comparativo salarial de mercado: </a:t>
            </a:r>
            <a:r>
              <a:rPr sz="1250" b="0">
                <a:solidFill>
                  <a:srgbClr val="1A2733"/>
                </a:solidFill>
                <a:latin typeface="Arial"/>
              </a:rPr>
              <a:t>solo con validación legal, anonimización irreversible y consentimiento — o alianza con proveedor licenciado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10911535" cy="685800"/>
          </a:xfrm>
          <a:prstGeom prst="rect">
            <a:avLst/>
          </a:prstGeom>
          <a:solidFill>
            <a:srgbClr val="F5F7F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532120"/>
            <a:ext cx="50800" cy="685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Puerta 3 →  </a:t>
            </a:r>
            <a:r>
              <a:rPr sz="1200" b="0">
                <a:solidFill>
                  <a:srgbClr val="1A2733"/>
                </a:solidFill>
                <a:latin typeface="Arial"/>
              </a:rPr>
              <a:t>cada nueva línea se autofinancia con el valor demostrado en las fases previas.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C7C8C"/>
                </a:solidFill>
                <a:latin typeface="Arial"/>
              </a:rPr>
              <a:t>06 · PARA ARRANCAR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02A43"/>
                </a:solidFill>
                <a:latin typeface="Arial"/>
              </a:rPr>
              <a:t>Qué necesitamos de ti y próximos pasos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463040" cy="3810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37376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Confidencial · Conexión Talento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643737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A8B4C0"/>
                </a:solidFill>
                <a:latin typeface="Arial"/>
              </a:rPr>
              <a:t>Vértice   ·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Qué necesitamos de Conexión Talento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48640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Un CV real anonimizado (por correo) — para el adelanto del viernes.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Acceso de lectura a Team Tailor — el lunes (toma unos días gestionarlo).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Contacto de tu abogado/a — el lunes.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Fee por colocación + volumen de mandatos/mes.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C7C8C"/>
                </a:solidFill>
                <a:latin typeface="Arial"/>
              </a:rPr>
              <a:t>•  </a:t>
            </a:r>
            <a:r>
              <a:rPr sz="1300" b="0">
                <a:solidFill>
                  <a:srgbClr val="1A2733"/>
                </a:solidFill>
                <a:latin typeface="Arial"/>
              </a:rPr>
              <a:t>Confirmación del consentimiento de la base.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00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C7C8C"/>
                </a:solidFill>
                <a:latin typeface="Arial"/>
              </a:rPr>
              <a:t>Próximos pasos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031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Firmar la orden de la Fase 0 (1 página): US$2.500, 50% de anticipo — tu decisión de hoy.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0175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Esta semana: CV anonimizado (o de prueba) → adelanto con tu marca + registro anti-duplicado en vivo, con acuerdo de protección de datos.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319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931920"/>
            <a:ext cx="4206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733"/>
                </a:solidFill>
                <a:latin typeface="Arial"/>
              </a:rPr>
              <a:t>Lunes: acceso a Team Tailor + abogado/a. Demo + semáforo en 2–3 semanas.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Empezamos pequeño, demostramos valor con tus datos,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E9CAD"/>
                </a:solidFill>
                <a:latin typeface="Arial"/>
              </a:rPr>
              <a:t>y escalamos solo lo que funciona.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690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2D4E2"/>
                </a:solidFill>
                <a:latin typeface="Arial"/>
              </a:rPr>
              <a:t>Tu decisión de hoy es chica: una victoria visible en 3 semanas. El resto se gana con datos, fase por fase — y con tu ojo clínico en el centro de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C9A227"/>
                </a:solidFill>
                <a:latin typeface="Arial"/>
              </a:rPr>
              <a:t>Gracias, Virginia. — Vértice · Data, IA &amp; Transformación Digital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