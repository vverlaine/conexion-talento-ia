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PROPUESTA DE ARRANQUE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Tu ojo clínico,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vuelto un sistema que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Ordenar y medir el motor de Reclutamiento &amp; Selección y —con tu criterio— activar la IA y tu base de talento. Empezamos por una victoria concreta en 3 semanas, no por un gran compromiso.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15000"/>
            <a:ext cx="10515600" cy="12700"/>
          </a:xfrm>
          <a:prstGeom prst="rect">
            <a:avLst/>
          </a:prstGeom>
          <a:solidFill>
            <a:srgbClr val="2A4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para: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Virginia — CEO, Conexión Talento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por: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‹TU CONSULTORA› · Data, IA &amp; Transf.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Fecha: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HOJA DE RUTA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2880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El reto y el 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42032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Nuestro enfoque: estandarizar antes de automatizar — con la IA, no sin ella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55264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Empecemos por una victoria: la Fase 0 y lo que te llevas en 3 semanas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68496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Cómo medimos el éxito y qué vale en tus dólares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81728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Inversión: tu decisión de hoy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9496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Riesgos, el camino completo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ENTENDIMIENTO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El reto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2733"/>
                </a:solidFill>
                <a:latin typeface="Arial"/>
              </a:rPr>
              <a:t>Conexión Talento vive de su motor de Reclutamiento &amp; Selección — </a:t>
            </a:r>
            <a:r>
              <a:rPr sz="1500" b="1">
                <a:solidFill>
                  <a:srgbClr val="102A43"/>
                </a:solidFill>
                <a:latin typeface="Arial"/>
              </a:rPr>
              <a:t>el 63% de los ingresos</a:t>
            </a:r>
            <a:r>
              <a:rPr sz="1500" b="0">
                <a:solidFill>
                  <a:srgbClr val="1A2733"/>
                </a:solidFill>
                <a:latin typeface="Arial"/>
              </a:rPr>
              <a:t>. Tiene activos poco comunes: el ojo clínico de Virginia, un ATS y ~4.000 candidatos. Lo que falta no son herramientas: es la </a:t>
            </a:r>
            <a:r>
              <a:rPr sz="1500" b="1">
                <a:solidFill>
                  <a:srgbClr val="102A43"/>
                </a:solidFill>
                <a:latin typeface="Arial"/>
              </a:rPr>
              <a:t>columna vertebral</a:t>
            </a:r>
            <a:r>
              <a:rPr sz="1500" b="0">
                <a:solidFill>
                  <a:srgbClr val="1A2733"/>
                </a:solidFill>
                <a:latin typeface="Arial"/>
              </a:rPr>
              <a:t> que vuelve ese talento escalable.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10911535" cy="1143000"/>
          </a:xfrm>
          <a:prstGeom prst="rect">
            <a:avLst/>
          </a:prstGeom>
          <a:solidFill>
            <a:srgbClr val="EE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50800" cy="11430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paradoja: </a:t>
            </a:r>
            <a:r>
              <a:rPr sz="1500" b="0">
                <a:solidFill>
                  <a:srgbClr val="1A2733"/>
                </a:solidFill>
                <a:latin typeface="Arial"/>
              </a:rPr>
              <a:t>vende “cercanía al candidato” mientras la critican en LinkedIn por falta de seguimiento, y ya presentó dos veces el mismo candidato al mismo cliente. El cuello de botella no es de manos — es de proceso.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4 reclutadores trabajan de 4 formas distintas, sin documentar ni estandarizar.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Cero métricas: sin línea base no hay ROI demostrable ni precio premium.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La base de ~4.000 candidatos no es buscable — “el oro” está sin refinar.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Dónde estás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423367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Estado actual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Implicación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Proceso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4 reclutadores, 4 métodos; sin documentar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El criterio no escala ni se transfiere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Datos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~4.000 candidatos sin etiquetar ni vigencia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No buscable; ~30–50% probablemente caduco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Tecnología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Team Tailor con IA sin explotar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Se paga capacidad que no se usa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Inexistentes (“no métricas”)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línea base no hay ROI ni precio premium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Experiencia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seguimiento; críticas en LinkedIn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La marca dice “cercanía”, el candidato no la siente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‹TU CONSULTORA›   · 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9A227"/>
                </a:solidFill>
                <a:latin typeface="Arial"/>
              </a:rPr>
              <a:t>02 · NUESTRO ENFOQUE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Estandarizar </a:t>
            </a:r>
            <a:r>
              <a:rPr sz="3000" b="1">
                <a:solidFill>
                  <a:srgbClr val="2E9CAD"/>
                </a:solidFill>
                <a:latin typeface="Arial"/>
              </a:rPr>
              <a:t>antes de automatizar.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Meter IA sobre el desorden solo produce malos resultados más rápido. El diferenciador no es la IA — es la disciplina de proceso que ningún competidor copia sin el criterio humano detrás.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1. Estandarizar el criterio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2. Medir líneas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3. Estructurar los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4. IA asistida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Arial"/>
              </a:rPr>
              <a:t>Sí a la IA y a la velocidad que pediste — y para que rindan de verdad, primero el orden. </a:t>
            </a:r>
            <a:r>
              <a:rPr sz="1500" b="0">
                <a:solidFill>
                  <a:srgbClr val="C2D4E2"/>
                </a:solidFill>
                <a:latin typeface="Arial"/>
              </a:rPr>
              <a:t>La IA no es el final del camino; es la consecuencia de hacerlo 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02 · TU VISIÓN, AFINADA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Sí, y — honramos lo que pediste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B7B"/>
                </a:solidFill>
                <a:latin typeface="Arial"/>
              </a:rPr>
              <a:t>Coincidimos en el qué. Aquí va el cómo, contigo como socia.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75104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938528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“Quiero una persona más”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una herramienta que multiplique las manos del equipo que ya tienes; si aun así hace falta gente, la sumas sabiendo exactamente para qué.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“Seis agentes de IA”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arrancamos por el que más te quita el sueño y más valor te da. Uno bien hecho abre la puerta a los demás.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072384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“La base es oro, vale ~60%”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la puliremos para que valga lo que sabes: hoy es oro en bruto, sin clasificar y con una parte ya envejecida.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75888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639312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“Vendamos el benchmark salarial”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por la puerta de adelante: anonimizado con dictamen legal, o de la mano de un proveedor licenciado.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206240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“Salir del ATS / mismo día”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exprimimos lo que ya pagas y lo medimos. Migrar después, con números. El “mismo día” es nuestro norte.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74920"/>
            <a:ext cx="50800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Blindar tu legado:  </a:t>
            </a:r>
            <a:r>
              <a:rPr sz="1400" b="0">
                <a:solidFill>
                  <a:srgbClr val="1A2733"/>
                </a:solidFill>
                <a:latin typeface="Arial"/>
              </a:rPr>
              <a:t>no venimos a “extraerte el cerebro”, sino a poner tu ojo clínico de 20 años en un sistema que lo protege y lo multiplica — aunque tú no estés en la sala.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TU DECISIÓN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Empecemos por una victoria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749039" cy="4160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749039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9CAD"/>
                </a:solidFill>
                <a:latin typeface="Arial"/>
              </a:rPr>
              <a:t>FASE 0 · ARRANQUE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2–3 semanas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Factibilidad + 2 quick wins visibles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100% acreditable a la siguiente fase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Cerca de tu presupuesto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00200"/>
            <a:ext cx="67665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Una prueba pagada, con resultado visible en 2–3 semanas.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Cerca de tu presupuesto, no un salto al vacío.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El 100% se acredita a la siguiente fase si avanzas — baja tu riesgo, no es descuento.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Estandarizar, IA y escala los cotizamos DESPUÉS, con tus datos reales en mano.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No te pedimos comprometerte con todo a ciegas: primero ves, luego decides.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5532120"/>
            <a:ext cx="676656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5532120"/>
            <a:ext cx="6400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Tu decisión de hoy es pequeña; el resto se gana con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LA DEMO VIVA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te llevas en 3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Con TUS datos, no en abstracto: lo ves, lo tocas, y desde ahí decides el siguiente paso.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402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IA trabajando con tus datos:  </a:t>
            </a:r>
            <a:r>
              <a:rPr sz="1500" b="0">
                <a:solidFill>
                  <a:srgbClr val="1A2733"/>
                </a:solidFill>
                <a:latin typeface="Arial"/>
              </a:rPr>
              <a:t>20–30 CVs reales de una vacante tuya abierta, ordenados con tu criterio replicado — en un entorno con DPA, cumpliendo desde el día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36392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363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136392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Tu CV con el sello de la firma:  </a:t>
            </a:r>
            <a:r>
              <a:rPr sz="1500" b="0">
                <a:solidFill>
                  <a:srgbClr val="1A2733"/>
                </a:solidFill>
                <a:latin typeface="Arial"/>
              </a:rPr>
              <a:t>plantilla única, ya montada sobre un candidato real.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032504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Registro anti-duplicado funcionando:  </a:t>
            </a:r>
            <a:r>
              <a:rPr sz="1500" b="0">
                <a:solidFill>
                  <a:srgbClr val="1A2733"/>
                </a:solidFill>
                <a:latin typeface="Arial"/>
              </a:rPr>
              <a:t>se acaba el bochorno de presentar dos veces al mismo candidato.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28616"/>
            <a:ext cx="4572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9286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928616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El semáforo honesto:  </a:t>
            </a:r>
            <a:r>
              <a:rPr sz="1500" b="0">
                <a:solidFill>
                  <a:srgbClr val="1A2733"/>
                </a:solidFill>
                <a:latin typeface="Arial"/>
              </a:rPr>
              <a:t>te decimos si tu base realmente se puede exportar y cuánto de los 4.000 sigue vigente.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CÓMO MEDIMOS EL ÉXITO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De “cero métricas” a un cuadro de 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5212080"/>
                <a:gridCol w="1828800"/>
                <a:gridCol w="149047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KPI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Qué mide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Time-to-terna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Días de apertura a terna entregada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~5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48–72h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Aceptación de 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ternas que el cliente aprueba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 sostenido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Rotación a 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colocados que salen &lt;90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Cobertura base interna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mandatos cubiertos sin sourcing externo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~0% hoy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Salud de la base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vigentes y etiquetados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desconocida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Experiencia (CSAT)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satisfechos (con n)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Crear las líneas base (hoy inexistentes) es parte del valor de la Fase 1 — y la prueba de tu ROI.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EL RETORNO EN TUS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vale cada terna entregada más rápido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A2733"/>
                </a:solidFill>
                <a:latin typeface="Arial"/>
              </a:rPr>
              <a:t>Pasar tu terna de ~5 días a 48–72h no es solo comodidad: es ganar mandatos que hoy se enfrían o se lleva otro.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10911535" cy="84124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50800" cy="8412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9CAD"/>
                </a:solidFill>
                <a:latin typeface="Arial"/>
              </a:rPr>
              <a:t>Fórmula:  </a:t>
            </a:r>
            <a:r>
              <a:rPr sz="1500" b="0">
                <a:solidFill>
                  <a:srgbClr val="FFFFFF"/>
                </a:solidFill>
                <a:latin typeface="Arial"/>
              </a:rPr>
              <a:t>(colocaciones extra que cierras por presentar primero) × (tu fee por colocación) = </a:t>
            </a:r>
            <a:r>
              <a:rPr sz="1500" b="1">
                <a:solidFill>
                  <a:srgbClr val="C9A227"/>
                </a:solidFill>
                <a:latin typeface="Arial"/>
              </a:rPr>
              <a:t>retorno</a:t>
            </a:r>
            <a:r>
              <a:rPr sz="1500" b="0">
                <a:solidFill>
                  <a:srgbClr val="FFFFFF"/>
                </a:solidFill>
                <a:latin typeface="Arial"/>
              </a:rPr>
              <a:t>.  Una sola colocación adicional ya cubre la Fase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Ejemplo — lo llenamos con tus números:  </a:t>
            </a:r>
            <a:r>
              <a:rPr sz="1350" b="0">
                <a:solidFill>
                  <a:srgbClr val="1A2733"/>
                </a:solidFill>
                <a:latin typeface="Arial"/>
              </a:rPr>
              <a:t>salario anual US$18,000 × fee 15% = US$2,700 por colocación. Si esto te ayuda a cerrar 1 colocación que hoy perderías, ya recuperaste los US$2,500 de la Fase 0.  </a:t>
            </a:r>
            <a:r>
              <a:rPr sz="1250" b="0">
                <a:solidFill>
                  <a:srgbClr val="5B6B7B"/>
                </a:solidFill>
                <a:latin typeface="Arial"/>
              </a:rPr>
              <a:t>(Números de marcador, no promesa.)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11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Lo honesto: </a:t>
            </a:r>
            <a:r>
              <a:rPr sz="1350" b="0">
                <a:solidFill>
                  <a:srgbClr val="1A2733"/>
                </a:solidFill>
                <a:latin typeface="Arial"/>
              </a:rPr>
              <a:t>todavía no tengo tu fee promedio ni cuántos mandatos manejas al mes. Mándamelos HOY por WhatsApp y traigo tu ROI con tu número real al viernes —no un ejemplo—.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Caveat: </a:t>
            </a:r>
            <a:r>
              <a:rPr sz="1350" b="0">
                <a:solidFill>
                  <a:srgbClr val="1A2733"/>
                </a:solidFill>
                <a:latin typeface="Arial"/>
              </a:rPr>
              <a:t>la velocidad te pone primera en la fila; el cierre sigue dependiendo de tu ojo y del cliente. Buscamos ponerte primera en la fila — no prometemos colocaciones.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05 ·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Tu decisión de hoy — y el horizonte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1280160"/>
          </a:xfrm>
          <a:prstGeom prst="rect">
            <a:avLst/>
          </a:prstGeom>
          <a:solidFill>
            <a:srgbClr val="EEF5F6"/>
          </a:solidFill>
          <a:ln w="1905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128016" cy="12801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7132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rial"/>
              </a:rPr>
              <a:t>Empezamos aquí — Fase 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Factibilidad pagada + 2 quick wins · 2–3 semanas · 100% acreditable a la siguiente fase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Tu seguro: los activos tangibles son tuyos aunque la Puerta 0 salga roja y no continúes.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00200"/>
            <a:ext cx="30175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C7C8C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950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La cuenta real:  </a:t>
            </a:r>
            <a:r>
              <a:rPr sz="1200" b="0">
                <a:solidFill>
                  <a:srgbClr val="5B6B7B"/>
                </a:solidFill>
                <a:latin typeface="Arial"/>
              </a:rPr>
              <a:t>temporal (~$2.000) + Fase 0 ($2.500) = $4.500  ·  vs. el 5º reclutador que pediste (~$15k/año). Esa es la vara.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55264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El horizonte completo (referencia — no es lo que decides hoy; cada fase se cotiza y firma por separado):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~US$12.000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 + piloto 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 + 2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~US$24.000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Programa completo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0–3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desde ~US$39.000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60"/>
            <a:ext cx="10911535" cy="777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6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9A227"/>
                </a:solidFill>
                <a:latin typeface="Arial"/>
              </a:rPr>
              <a:t>Cómo cobramos:  </a:t>
            </a:r>
            <a:r>
              <a:rPr sz="1350" b="0">
                <a:solidFill>
                  <a:srgbClr val="FFFFFF"/>
                </a:solidFill>
                <a:latin typeface="Arial"/>
              </a:rPr>
              <a:t>precio cerrado por fase — pagas solo lo que apruebas en cada puerta. Sin retainer ni cobro por “éxito” al inicio: no hay aún línea base para medirlo de forma justa.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RIESGOS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gestionamos por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6702552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Riesgo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Mitigación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Protección de datos — El Salvador ya regula (Decreto 144/2024, vigente)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Consentimiento por finalidad, registro, retención y responsable de datos desde la Fase 1. Cumplimiento por diseño = argumento de venta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Vender el benchmark salarial = bandera roja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Congelado hasta dictamen de abogado salvadoreño + anonimización irreversible (k-anonimato)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Sesgo en cribado automático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Humano-en-el-bucle obligatorio; la IA nunca rechaza sola; auditoría de sesgo y trazabilidad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API de Team Tailor no verificada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Spike de factibilidad en la Fase 0 (semana 1); plan B de captura acotada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Datos en Guatemala (transferencia SV–GT)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R&amp;S opera en SV+GT. GT aún sin ley general; transferencia con DPA y minimización. El estándar se construye una vez y se despliega en ambos países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Adopción del equipo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Co-diseño con los reclutadores; el rol extra como embajador de marca, no operativo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EL CAMINO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Las cuatro fases — el mapa, no el pedido de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502920"/>
          </a:xfrm>
          <a:prstGeom prst="rect">
            <a:avLst/>
          </a:prstGeom>
          <a:solidFill>
            <a:srgbClr val="EEF5F6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Arial"/>
              </a:rPr>
              <a:t>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hoy solo decides la Fase 0. Cada fase siguiente se cotiza y se firma por separado, con datos reales en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58568"/>
          <a:ext cx="10908792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697480"/>
                <a:gridCol w="1097280"/>
                <a:gridCol w="1188720"/>
                <a:gridCol w="1691640"/>
                <a:gridCol w="3456432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Nombre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Duración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Esfuerzo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Inversión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Resultado / Puerta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0 ◀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Factibilidad + Quick Wins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2–3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8–12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US$2.500*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Empezamos aquí: semáforo + 2 quick wins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Estandarizar, Documentar,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4–6 sem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20–30 jorn.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~US$9.500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La “columna vertebral”: SOPs, rúbrica, 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IA asistida (modular)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6–8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25–35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~US$12.000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Screener/Ranker + Generador de CV (con HITL)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Activo de datos y escala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horizonte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 dimensionar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desde 15.000 /
retainer 3.500/mes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Base buscable, mercado interno, benchmark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B7B"/>
                </a:solidFill>
                <a:latin typeface="Arial"/>
              </a:rPr>
              <a:t>* La Fase 0 acredita el 100% a la Fase 1. Cifras indicativas en USD, a calibrar con tu tarifa local y tu fee por colocación.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Cómo se ve en el tiempo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92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05740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48840" y="2057400"/>
            <a:ext cx="1714500" cy="457200"/>
          </a:xfrm>
          <a:prstGeom prst="round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70632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770632"/>
            <a:ext cx="3429000" cy="457200"/>
          </a:xfrm>
          <a:prstGeom prst="round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83864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3483864"/>
            <a:ext cx="4000500" cy="457200"/>
          </a:xfrm>
          <a:prstGeom prst="round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9709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97096"/>
            <a:ext cx="3429000" cy="4572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21208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Hoy decides la Fase 0 (semanas 1–3). Lo demás se cotiza al pasar cada puerta.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Las fases se solapan: la extracción de datos corre en paralelo a la documentación.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Cada puerta go/no-go es una decisión explícita de continuar, reordenar o detener.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Estandarizar, Documentar y Medir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4–6 semanas · 20–30 jornadas · ~US$9.500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instalar la columna vertebral. Aquí vive el valor real y la capacidad que se queda.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Mapa de proceso “deber ser”: </a:t>
            </a:r>
            <a:r>
              <a:rPr sz="1250" b="0">
                <a:solidFill>
                  <a:srgbClr val="1A2733"/>
                </a:solidFill>
                <a:latin typeface="Arial"/>
              </a:rPr>
              <a:t>los 8 pasos con RACI, SLA por etapa y dueño nombrado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SOP de cribado + rúbrica + golden set: </a:t>
            </a:r>
            <a:r>
              <a:rPr sz="1250" b="0">
                <a:solidFill>
                  <a:srgbClr val="1A2733"/>
                </a:solidFill>
                <a:latin typeface="Arial"/>
              </a:rPr>
              <a:t>tu ojo clínico hecho criterios y pesos — el entregable estrella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Scorecard de intake: </a:t>
            </a:r>
            <a:r>
              <a:rPr sz="1250" b="0">
                <a:solidFill>
                  <a:srgbClr val="1A2733"/>
                </a:solidFill>
                <a:latin typeface="Arial"/>
              </a:rPr>
              <a:t>1 página por vacante: must/nice-to-have, pesos, éxito a 90 días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Árbol de métricas + estandarización del ATS: </a:t>
            </a:r>
            <a:r>
              <a:rPr sz="1250" b="0">
                <a:solidFill>
                  <a:srgbClr val="1A2733"/>
                </a:solidFill>
                <a:latin typeface="Arial"/>
              </a:rPr>
              <a:t>1 North Star + ~10 KPIs; etapas y campos obligatorios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Gobernanza de datos + taxonomía v1: </a:t>
            </a:r>
            <a:r>
              <a:rPr sz="1250" b="0">
                <a:solidFill>
                  <a:srgbClr val="1A2733"/>
                </a:solidFill>
                <a:latin typeface="Arial"/>
              </a:rPr>
              <a:t>RoPA-lite, base legal por finalidad, diccionario de 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Puerta 1 →  </a:t>
            </a:r>
            <a:r>
              <a:rPr sz="1200" b="0">
                <a:solidFill>
                  <a:srgbClr val="1A2733"/>
                </a:solidFill>
                <a:latin typeface="Arial"/>
              </a:rPr>
              <a:t>etapas estandarizadas; SOP + rúbrica firmados; golden set armado; baseline medido. La IA no arranca sin esto.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IA asistida (modular)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6–8 semanas · 25–35 jornadas · ~US$12.000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acelerar lo que ya probó su criterio. Solo módulos que pasen la “Puerta Listo para IA”.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Screener/Ranker asistido (~US$7.000):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des-identifica PII → puntúa vs scorecard con justificación → pre-ordena. El humano valida; la IA nunca rechaza sola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Generador de CV con branding (~US$4.000):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extracción a esquema fijo + plantilla determinista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Medición vs línea base + auditoría de sesgo: </a:t>
            </a:r>
            <a:r>
              <a:rPr sz="1250" b="0">
                <a:solidFill>
                  <a:srgbClr val="1A2733"/>
                </a:solidFill>
                <a:latin typeface="Arial"/>
              </a:rPr>
              <a:t>trazabilidad de prompts, criterios y scores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45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4506B"/>
                </a:solidFill>
                <a:latin typeface="Arial"/>
              </a:rPr>
              <a:t>Puerta 2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concordancia IA-vs-ojo clínico ≥ umbral en búsquedas reales; sin sesgo relevante; mejora medible de time-to-terna.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Activo de datos y escala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horizonte · land-and-expand · desde US$15.000 o retainer US$3.500/mes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convertir la base en activo líquido y abrir nuevas líneas. Condicionada a las fases previas.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Enriquecimiento de la base: </a:t>
            </a:r>
            <a:r>
              <a:rPr sz="1250" b="0">
                <a:solidFill>
                  <a:srgbClr val="1A2733"/>
                </a:solidFill>
                <a:latin typeface="Arial"/>
              </a:rPr>
              <a:t>parsing, golden record, score de vigencia → búsqueda por skill e internal-fill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Mercado interno / historial de candidato: </a:t>
            </a:r>
            <a:r>
              <a:rPr sz="1250" b="0">
                <a:solidFill>
                  <a:srgbClr val="1A2733"/>
                </a:solidFill>
                <a:latin typeface="Arial"/>
              </a:rPr>
              <a:t>+ portal de auto-actualización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Decisión augmentar-vs-migrar Team Tailor: </a:t>
            </a:r>
            <a:r>
              <a:rPr sz="1250" b="0">
                <a:solidFill>
                  <a:srgbClr val="1A2733"/>
                </a:solidFill>
                <a:latin typeface="Arial"/>
              </a:rPr>
              <a:t>con datos y caso de negocio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Benchmark de compensaciones: </a:t>
            </a:r>
            <a:r>
              <a:rPr sz="1250" b="0">
                <a:solidFill>
                  <a:srgbClr val="1A2733"/>
                </a:solidFill>
                <a:latin typeface="Arial"/>
              </a:rPr>
              <a:t>solo con validación legal, k-anonimato y consentimiento — o alianza con proveedor licenciado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Puerta 3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cada nueva línea se autofinancia con el valor demostrado en las fases previas.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PARA ARRANCAR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Qué necesitamos de ti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‹TU CONSULTORA›   ·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Qué necesitamos de Conexión Talento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4864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Un CV real anonimizado (por correo) — para el teaser del viernes.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Acceso de lectura a Team Tailor — el lunes (lead time).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Contacto de tu abogado/a — el lunes.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Fee por colocación + volumen de mandatos/mes.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Confirmación del consentimiento de la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Próximos pasos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031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Aprobar la Fase 0 (US$2.500) — tu decisión de hoy.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0175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Hoy: CV anonimizado + tu fee por WhatsApp → teaser branded + registro anti-duplicado en vivo esta semana.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319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Lunes: acceso a Team Tailor + abogado/a. Demo completa + semáforo en 2–3 semanas.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Empezamos pequeño, demostramos valor con tus datos,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E9CAD"/>
                </a:solidFill>
                <a:latin typeface="Arial"/>
              </a:rPr>
              <a:t>y escalamos solo lo que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2D4E2"/>
                </a:solidFill>
                <a:latin typeface="Arial"/>
              </a:rPr>
              <a:t>Tu decisión de hoy es chica: una victoria visible en 3 semanas. El resto se gana con datos, fase por fase — y con tu ojo clínico en el centro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Gracias, Virginia. — ‹TU CONSULTORA› · Data, IA &amp; Transformación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